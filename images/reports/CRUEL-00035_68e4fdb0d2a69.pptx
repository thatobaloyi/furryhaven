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70" d="100"/>
          <a:sy n="70" d="100"/>
        </p:scale>
        <p:origin x="864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2872359" y="4256278"/>
            <a:ext cx="6447281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872359" y="4256278"/>
            <a:ext cx="6447281" cy="144017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6858000"/>
          </a:xfrm>
          <a:custGeom>
            <a:avLst/>
            <a:gdLst/>
            <a:ahLst/>
            <a:cxnLst/>
            <a:rect l="l" t="t" r="r" b="b"/>
            <a:pathLst>
              <a:path w="12192000" h="6858000">
                <a:moveTo>
                  <a:pt x="12192000" y="0"/>
                </a:moveTo>
                <a:lnTo>
                  <a:pt x="0" y="0"/>
                </a:lnTo>
                <a:lnTo>
                  <a:pt x="0" y="6858000"/>
                </a:lnTo>
                <a:lnTo>
                  <a:pt x="12192000" y="6858000"/>
                </a:lnTo>
                <a:lnTo>
                  <a:pt x="12192000" y="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10713719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79" h="76200">
                <a:moveTo>
                  <a:pt x="38100" y="0"/>
                </a:moveTo>
                <a:lnTo>
                  <a:pt x="23252" y="2988"/>
                </a:lnTo>
                <a:lnTo>
                  <a:pt x="11144" y="11144"/>
                </a:lnTo>
                <a:lnTo>
                  <a:pt x="2988" y="23252"/>
                </a:lnTo>
                <a:lnTo>
                  <a:pt x="0" y="38100"/>
                </a:lnTo>
                <a:lnTo>
                  <a:pt x="2988" y="52947"/>
                </a:lnTo>
                <a:lnTo>
                  <a:pt x="11144" y="65055"/>
                </a:lnTo>
                <a:lnTo>
                  <a:pt x="23252" y="73211"/>
                </a:lnTo>
                <a:lnTo>
                  <a:pt x="38100" y="76200"/>
                </a:lnTo>
                <a:lnTo>
                  <a:pt x="52947" y="73211"/>
                </a:lnTo>
                <a:lnTo>
                  <a:pt x="65055" y="65055"/>
                </a:lnTo>
                <a:lnTo>
                  <a:pt x="73211" y="52947"/>
                </a:lnTo>
                <a:lnTo>
                  <a:pt x="74921" y="44450"/>
                </a:lnTo>
                <a:lnTo>
                  <a:pt x="38100" y="44450"/>
                </a:lnTo>
                <a:lnTo>
                  <a:pt x="38100" y="31750"/>
                </a:lnTo>
                <a:lnTo>
                  <a:pt x="74921" y="31750"/>
                </a:lnTo>
                <a:lnTo>
                  <a:pt x="73211" y="23252"/>
                </a:lnTo>
                <a:lnTo>
                  <a:pt x="65055" y="11144"/>
                </a:lnTo>
                <a:lnTo>
                  <a:pt x="52947" y="2988"/>
                </a:lnTo>
                <a:lnTo>
                  <a:pt x="38100" y="0"/>
                </a:lnTo>
                <a:close/>
              </a:path>
              <a:path w="1478279" h="76200">
                <a:moveTo>
                  <a:pt x="74921" y="31750"/>
                </a:moveTo>
                <a:lnTo>
                  <a:pt x="38100" y="31750"/>
                </a:lnTo>
                <a:lnTo>
                  <a:pt x="38100" y="44450"/>
                </a:lnTo>
                <a:lnTo>
                  <a:pt x="74921" y="44450"/>
                </a:lnTo>
                <a:lnTo>
                  <a:pt x="76200" y="38100"/>
                </a:lnTo>
                <a:lnTo>
                  <a:pt x="74921" y="31750"/>
                </a:lnTo>
                <a:close/>
              </a:path>
              <a:path w="1478279" h="76200">
                <a:moveTo>
                  <a:pt x="1478152" y="31750"/>
                </a:moveTo>
                <a:lnTo>
                  <a:pt x="74921" y="31750"/>
                </a:lnTo>
                <a:lnTo>
                  <a:pt x="76200" y="38100"/>
                </a:lnTo>
                <a:lnTo>
                  <a:pt x="74921" y="44450"/>
                </a:lnTo>
                <a:lnTo>
                  <a:pt x="1478152" y="44450"/>
                </a:lnTo>
                <a:lnTo>
                  <a:pt x="1478152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851405" y="125679"/>
            <a:ext cx="8489188" cy="4521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chemeClr val="bg1"/>
                </a:solidFill>
                <a:latin typeface="Segoe UI Light"/>
                <a:cs typeface="Segoe UI Ligh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09600" y="1577340"/>
            <a:ext cx="1097280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7/14/2023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subTitle" idx="4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ts val="7009"/>
              </a:lnSpc>
              <a:spcBef>
                <a:spcPts val="100"/>
              </a:spcBef>
            </a:pPr>
            <a:r>
              <a:rPr sz="6000" b="1" dirty="0">
                <a:solidFill>
                  <a:srgbClr val="FFFFFF"/>
                </a:solidFill>
                <a:latin typeface="Century Gothic"/>
                <a:cs typeface="Century Gothic"/>
              </a:rPr>
              <a:t>Data</a:t>
            </a:r>
            <a:r>
              <a:rPr sz="6000" b="1" spc="-15" dirty="0">
                <a:solidFill>
                  <a:srgbClr val="FFFFFF"/>
                </a:solidFill>
                <a:latin typeface="Century Gothic"/>
                <a:cs typeface="Century Gothic"/>
              </a:rPr>
              <a:t> </a:t>
            </a:r>
            <a:r>
              <a:rPr sz="6000" b="1" spc="-10" dirty="0">
                <a:solidFill>
                  <a:srgbClr val="FFFFFF"/>
                </a:solidFill>
                <a:latin typeface="Century Gothic"/>
                <a:cs typeface="Century Gothic"/>
              </a:rPr>
              <a:t>Analytics</a:t>
            </a:r>
            <a:endParaRPr sz="6000">
              <a:latin typeface="Century Gothic"/>
              <a:cs typeface="Century Gothic"/>
            </a:endParaRPr>
          </a:p>
          <a:p>
            <a:pPr algn="ctr">
              <a:lnSpc>
                <a:spcPts val="4130"/>
              </a:lnSpc>
            </a:pPr>
            <a:r>
              <a:rPr sz="3600" dirty="0">
                <a:solidFill>
                  <a:srgbClr val="FFFF00"/>
                </a:solidFill>
                <a:latin typeface="Century Gothic"/>
                <a:cs typeface="Century Gothic"/>
              </a:rPr>
              <a:t>Planning</a:t>
            </a:r>
            <a:r>
              <a:rPr sz="3600" spc="10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3600" dirty="0">
                <a:solidFill>
                  <a:srgbClr val="FFFF00"/>
                </a:solidFill>
                <a:latin typeface="Century Gothic"/>
                <a:cs typeface="Century Gothic"/>
              </a:rPr>
              <a:t>an</a:t>
            </a:r>
            <a:r>
              <a:rPr sz="3600" spc="-15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3600" dirty="0">
                <a:solidFill>
                  <a:srgbClr val="FFFF00"/>
                </a:solidFill>
                <a:latin typeface="Century Gothic"/>
                <a:cs typeface="Century Gothic"/>
              </a:rPr>
              <a:t>Analytics</a:t>
            </a:r>
            <a:r>
              <a:rPr sz="3600" spc="10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3600" spc="-10" dirty="0">
                <a:solidFill>
                  <a:srgbClr val="FFFF00"/>
                </a:solidFill>
                <a:latin typeface="Century Gothic"/>
                <a:cs typeface="Century Gothic"/>
              </a:rPr>
              <a:t>Project</a:t>
            </a:r>
            <a:endParaRPr sz="3600">
              <a:latin typeface="Century Gothic"/>
              <a:cs typeface="Century Gothic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308475" y="6208877"/>
            <a:ext cx="3575685" cy="20827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dirty="0">
                <a:solidFill>
                  <a:srgbClr val="FFFF00"/>
                </a:solidFill>
                <a:latin typeface="Century Gothic"/>
                <a:cs typeface="Century Gothic"/>
              </a:rPr>
              <a:t>slides</a:t>
            </a:r>
            <a:r>
              <a:rPr sz="1200" spc="-40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FFFF00"/>
                </a:solidFill>
                <a:latin typeface="Century Gothic"/>
                <a:cs typeface="Century Gothic"/>
              </a:rPr>
              <a:t>adapted</a:t>
            </a:r>
            <a:r>
              <a:rPr sz="1200" spc="35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FFFF00"/>
                </a:solidFill>
                <a:latin typeface="Century Gothic"/>
                <a:cs typeface="Century Gothic"/>
              </a:rPr>
              <a:t>from</a:t>
            </a:r>
            <a:r>
              <a:rPr sz="1200" spc="5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1200" dirty="0">
                <a:solidFill>
                  <a:srgbClr val="FFFF00"/>
                </a:solidFill>
                <a:latin typeface="Century Gothic"/>
                <a:cs typeface="Century Gothic"/>
              </a:rPr>
              <a:t>IBM:</a:t>
            </a:r>
            <a:r>
              <a:rPr sz="1200" spc="-25" dirty="0">
                <a:solidFill>
                  <a:srgbClr val="FFFF00"/>
                </a:solidFill>
                <a:latin typeface="Century Gothic"/>
                <a:cs typeface="Century Gothic"/>
              </a:rPr>
              <a:t> </a:t>
            </a:r>
            <a:r>
              <a:rPr sz="1200" spc="-10" dirty="0">
                <a:solidFill>
                  <a:srgbClr val="FFFFFF"/>
                </a:solidFill>
                <a:latin typeface="Century Gothic"/>
                <a:cs typeface="Century Gothic"/>
              </a:rPr>
              <a:t>https://ibm.co/33Kiqvh</a:t>
            </a:r>
            <a:endParaRPr sz="1200">
              <a:latin typeface="Century Gothic"/>
              <a:cs typeface="Century Gothic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4760976" y="1763267"/>
            <a:ext cx="2620010" cy="2618740"/>
            <a:chOff x="4760976" y="1763267"/>
            <a:chExt cx="2620010" cy="2618740"/>
          </a:xfrm>
        </p:grpSpPr>
        <p:sp>
          <p:nvSpPr>
            <p:cNvPr id="5" name="object 5"/>
            <p:cNvSpPr/>
            <p:nvPr/>
          </p:nvSpPr>
          <p:spPr>
            <a:xfrm>
              <a:off x="4767072" y="1769363"/>
              <a:ext cx="2607945" cy="2606040"/>
            </a:xfrm>
            <a:custGeom>
              <a:avLst/>
              <a:gdLst/>
              <a:ahLst/>
              <a:cxnLst/>
              <a:rect l="l" t="t" r="r" b="b"/>
              <a:pathLst>
                <a:path w="2607945" h="2606040">
                  <a:moveTo>
                    <a:pt x="0" y="1303020"/>
                  </a:moveTo>
                  <a:lnTo>
                    <a:pt x="1303781" y="0"/>
                  </a:lnTo>
                  <a:lnTo>
                    <a:pt x="2607563" y="1303020"/>
                  </a:lnTo>
                  <a:lnTo>
                    <a:pt x="1303781" y="2606040"/>
                  </a:lnTo>
                  <a:lnTo>
                    <a:pt x="0" y="1303020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5826252" y="2825495"/>
              <a:ext cx="490855" cy="494030"/>
            </a:xfrm>
            <a:custGeom>
              <a:avLst/>
              <a:gdLst/>
              <a:ahLst/>
              <a:cxnLst/>
              <a:rect l="l" t="t" r="r" b="b"/>
              <a:pathLst>
                <a:path w="490854" h="494029">
                  <a:moveTo>
                    <a:pt x="490728" y="8255"/>
                  </a:moveTo>
                  <a:lnTo>
                    <a:pt x="490220" y="6604"/>
                  </a:lnTo>
                  <a:lnTo>
                    <a:pt x="490220" y="4318"/>
                  </a:lnTo>
                  <a:lnTo>
                    <a:pt x="489077" y="3302"/>
                  </a:lnTo>
                  <a:lnTo>
                    <a:pt x="488569" y="2159"/>
                  </a:lnTo>
                  <a:lnTo>
                    <a:pt x="487426" y="1143"/>
                  </a:lnTo>
                  <a:lnTo>
                    <a:pt x="485775" y="508"/>
                  </a:lnTo>
                  <a:lnTo>
                    <a:pt x="484759" y="0"/>
                  </a:lnTo>
                  <a:lnTo>
                    <a:pt x="441833" y="0"/>
                  </a:lnTo>
                  <a:lnTo>
                    <a:pt x="441833" y="57404"/>
                  </a:lnTo>
                  <a:lnTo>
                    <a:pt x="441833" y="271272"/>
                  </a:lnTo>
                  <a:lnTo>
                    <a:pt x="441325" y="273431"/>
                  </a:lnTo>
                  <a:lnTo>
                    <a:pt x="440690" y="274447"/>
                  </a:lnTo>
                  <a:lnTo>
                    <a:pt x="440182" y="276098"/>
                  </a:lnTo>
                  <a:lnTo>
                    <a:pt x="439039" y="277241"/>
                  </a:lnTo>
                  <a:lnTo>
                    <a:pt x="438023" y="278384"/>
                  </a:lnTo>
                  <a:lnTo>
                    <a:pt x="436880" y="278892"/>
                  </a:lnTo>
                  <a:lnTo>
                    <a:pt x="434721" y="279400"/>
                  </a:lnTo>
                  <a:lnTo>
                    <a:pt x="55372" y="279400"/>
                  </a:lnTo>
                  <a:lnTo>
                    <a:pt x="53848" y="278892"/>
                  </a:lnTo>
                  <a:lnTo>
                    <a:pt x="52705" y="278384"/>
                  </a:lnTo>
                  <a:lnTo>
                    <a:pt x="51689" y="277241"/>
                  </a:lnTo>
                  <a:lnTo>
                    <a:pt x="50546" y="276098"/>
                  </a:lnTo>
                  <a:lnTo>
                    <a:pt x="50038" y="274447"/>
                  </a:lnTo>
                  <a:lnTo>
                    <a:pt x="48895" y="273431"/>
                  </a:lnTo>
                  <a:lnTo>
                    <a:pt x="48895" y="175628"/>
                  </a:lnTo>
                  <a:lnTo>
                    <a:pt x="49911" y="177546"/>
                  </a:lnTo>
                  <a:lnTo>
                    <a:pt x="50419" y="178689"/>
                  </a:lnTo>
                  <a:lnTo>
                    <a:pt x="51435" y="179832"/>
                  </a:lnTo>
                  <a:lnTo>
                    <a:pt x="52578" y="180848"/>
                  </a:lnTo>
                  <a:lnTo>
                    <a:pt x="53594" y="181991"/>
                  </a:lnTo>
                  <a:lnTo>
                    <a:pt x="55245" y="181991"/>
                  </a:lnTo>
                  <a:lnTo>
                    <a:pt x="56896" y="182499"/>
                  </a:lnTo>
                  <a:lnTo>
                    <a:pt x="130683" y="182499"/>
                  </a:lnTo>
                  <a:lnTo>
                    <a:pt x="133985" y="181483"/>
                  </a:lnTo>
                  <a:lnTo>
                    <a:pt x="135001" y="180848"/>
                  </a:lnTo>
                  <a:lnTo>
                    <a:pt x="136144" y="179832"/>
                  </a:lnTo>
                  <a:lnTo>
                    <a:pt x="173609" y="140589"/>
                  </a:lnTo>
                  <a:lnTo>
                    <a:pt x="204978" y="219075"/>
                  </a:lnTo>
                  <a:lnTo>
                    <a:pt x="205613" y="220726"/>
                  </a:lnTo>
                  <a:lnTo>
                    <a:pt x="207137" y="222377"/>
                  </a:lnTo>
                  <a:lnTo>
                    <a:pt x="210947" y="224028"/>
                  </a:lnTo>
                  <a:lnTo>
                    <a:pt x="213741" y="224028"/>
                  </a:lnTo>
                  <a:lnTo>
                    <a:pt x="215392" y="223520"/>
                  </a:lnTo>
                  <a:lnTo>
                    <a:pt x="216408" y="222377"/>
                  </a:lnTo>
                  <a:lnTo>
                    <a:pt x="218567" y="221869"/>
                  </a:lnTo>
                  <a:lnTo>
                    <a:pt x="238544" y="201295"/>
                  </a:lnTo>
                  <a:lnTo>
                    <a:pt x="269621" y="169291"/>
                  </a:lnTo>
                  <a:lnTo>
                    <a:pt x="304292" y="204724"/>
                  </a:lnTo>
                  <a:lnTo>
                    <a:pt x="305435" y="205740"/>
                  </a:lnTo>
                  <a:lnTo>
                    <a:pt x="307594" y="206883"/>
                  </a:lnTo>
                  <a:lnTo>
                    <a:pt x="309245" y="207391"/>
                  </a:lnTo>
                  <a:lnTo>
                    <a:pt x="310769" y="207391"/>
                  </a:lnTo>
                  <a:lnTo>
                    <a:pt x="312420" y="206883"/>
                  </a:lnTo>
                  <a:lnTo>
                    <a:pt x="313563" y="206375"/>
                  </a:lnTo>
                  <a:lnTo>
                    <a:pt x="315722" y="205740"/>
                  </a:lnTo>
                  <a:lnTo>
                    <a:pt x="316738" y="204724"/>
                  </a:lnTo>
                  <a:lnTo>
                    <a:pt x="330923" y="186944"/>
                  </a:lnTo>
                  <a:lnTo>
                    <a:pt x="390017" y="112903"/>
                  </a:lnTo>
                  <a:lnTo>
                    <a:pt x="391160" y="111760"/>
                  </a:lnTo>
                  <a:lnTo>
                    <a:pt x="391668" y="109601"/>
                  </a:lnTo>
                  <a:lnTo>
                    <a:pt x="391668" y="105156"/>
                  </a:lnTo>
                  <a:lnTo>
                    <a:pt x="385699" y="99568"/>
                  </a:lnTo>
                  <a:lnTo>
                    <a:pt x="384556" y="99060"/>
                  </a:lnTo>
                  <a:lnTo>
                    <a:pt x="383032" y="99060"/>
                  </a:lnTo>
                  <a:lnTo>
                    <a:pt x="381381" y="99568"/>
                  </a:lnTo>
                  <a:lnTo>
                    <a:pt x="380238" y="100203"/>
                  </a:lnTo>
                  <a:lnTo>
                    <a:pt x="378079" y="100711"/>
                  </a:lnTo>
                  <a:lnTo>
                    <a:pt x="377063" y="101854"/>
                  </a:lnTo>
                  <a:lnTo>
                    <a:pt x="309753" y="186944"/>
                  </a:lnTo>
                  <a:lnTo>
                    <a:pt x="292658" y="169291"/>
                  </a:lnTo>
                  <a:lnTo>
                    <a:pt x="275590" y="151638"/>
                  </a:lnTo>
                  <a:lnTo>
                    <a:pt x="272288" y="149352"/>
                  </a:lnTo>
                  <a:lnTo>
                    <a:pt x="270637" y="149352"/>
                  </a:lnTo>
                  <a:lnTo>
                    <a:pt x="269621" y="148844"/>
                  </a:lnTo>
                  <a:lnTo>
                    <a:pt x="267970" y="149352"/>
                  </a:lnTo>
                  <a:lnTo>
                    <a:pt x="265811" y="149352"/>
                  </a:lnTo>
                  <a:lnTo>
                    <a:pt x="264668" y="150495"/>
                  </a:lnTo>
                  <a:lnTo>
                    <a:pt x="263652" y="151638"/>
                  </a:lnTo>
                  <a:lnTo>
                    <a:pt x="215392" y="201295"/>
                  </a:lnTo>
                  <a:lnTo>
                    <a:pt x="191185" y="140589"/>
                  </a:lnTo>
                  <a:lnTo>
                    <a:pt x="183896" y="122301"/>
                  </a:lnTo>
                  <a:lnTo>
                    <a:pt x="182753" y="120650"/>
                  </a:lnTo>
                  <a:lnTo>
                    <a:pt x="181102" y="118999"/>
                  </a:lnTo>
                  <a:lnTo>
                    <a:pt x="180086" y="117856"/>
                  </a:lnTo>
                  <a:lnTo>
                    <a:pt x="177292" y="117348"/>
                  </a:lnTo>
                  <a:lnTo>
                    <a:pt x="173609" y="117348"/>
                  </a:lnTo>
                  <a:lnTo>
                    <a:pt x="171958" y="118364"/>
                  </a:lnTo>
                  <a:lnTo>
                    <a:pt x="170307" y="120015"/>
                  </a:lnTo>
                  <a:lnTo>
                    <a:pt x="126873" y="165989"/>
                  </a:lnTo>
                  <a:lnTo>
                    <a:pt x="55245" y="165989"/>
                  </a:lnTo>
                  <a:lnTo>
                    <a:pt x="53594" y="166497"/>
                  </a:lnTo>
                  <a:lnTo>
                    <a:pt x="52578" y="167132"/>
                  </a:lnTo>
                  <a:lnTo>
                    <a:pt x="51435" y="168783"/>
                  </a:lnTo>
                  <a:lnTo>
                    <a:pt x="50419" y="169799"/>
                  </a:lnTo>
                  <a:lnTo>
                    <a:pt x="49911" y="170942"/>
                  </a:lnTo>
                  <a:lnTo>
                    <a:pt x="48895" y="172415"/>
                  </a:lnTo>
                  <a:lnTo>
                    <a:pt x="48895" y="55753"/>
                  </a:lnTo>
                  <a:lnTo>
                    <a:pt x="50038" y="54737"/>
                  </a:lnTo>
                  <a:lnTo>
                    <a:pt x="50546" y="52451"/>
                  </a:lnTo>
                  <a:lnTo>
                    <a:pt x="51689" y="51435"/>
                  </a:lnTo>
                  <a:lnTo>
                    <a:pt x="52705" y="50292"/>
                  </a:lnTo>
                  <a:lnTo>
                    <a:pt x="53848" y="49784"/>
                  </a:lnTo>
                  <a:lnTo>
                    <a:pt x="55372" y="49276"/>
                  </a:lnTo>
                  <a:lnTo>
                    <a:pt x="434721" y="49276"/>
                  </a:lnTo>
                  <a:lnTo>
                    <a:pt x="436880" y="49784"/>
                  </a:lnTo>
                  <a:lnTo>
                    <a:pt x="438023" y="50292"/>
                  </a:lnTo>
                  <a:lnTo>
                    <a:pt x="439039" y="51435"/>
                  </a:lnTo>
                  <a:lnTo>
                    <a:pt x="440182" y="52451"/>
                  </a:lnTo>
                  <a:lnTo>
                    <a:pt x="440690" y="54737"/>
                  </a:lnTo>
                  <a:lnTo>
                    <a:pt x="441325" y="55753"/>
                  </a:lnTo>
                  <a:lnTo>
                    <a:pt x="441833" y="57404"/>
                  </a:lnTo>
                  <a:lnTo>
                    <a:pt x="441833" y="0"/>
                  </a:lnTo>
                  <a:lnTo>
                    <a:pt x="6477" y="0"/>
                  </a:lnTo>
                  <a:lnTo>
                    <a:pt x="4953" y="508"/>
                  </a:lnTo>
                  <a:lnTo>
                    <a:pt x="3810" y="1143"/>
                  </a:lnTo>
                  <a:lnTo>
                    <a:pt x="2667" y="2159"/>
                  </a:lnTo>
                  <a:lnTo>
                    <a:pt x="1143" y="3302"/>
                  </a:lnTo>
                  <a:lnTo>
                    <a:pt x="508" y="4318"/>
                  </a:lnTo>
                  <a:lnTo>
                    <a:pt x="0" y="6604"/>
                  </a:lnTo>
                  <a:lnTo>
                    <a:pt x="0" y="322580"/>
                  </a:lnTo>
                  <a:lnTo>
                    <a:pt x="508" y="324231"/>
                  </a:lnTo>
                  <a:lnTo>
                    <a:pt x="1143" y="325374"/>
                  </a:lnTo>
                  <a:lnTo>
                    <a:pt x="2667" y="326390"/>
                  </a:lnTo>
                  <a:lnTo>
                    <a:pt x="4953" y="328676"/>
                  </a:lnTo>
                  <a:lnTo>
                    <a:pt x="6477" y="329184"/>
                  </a:lnTo>
                  <a:lnTo>
                    <a:pt x="237490" y="329184"/>
                  </a:lnTo>
                  <a:lnTo>
                    <a:pt x="237490" y="383286"/>
                  </a:lnTo>
                  <a:lnTo>
                    <a:pt x="141351" y="479552"/>
                  </a:lnTo>
                  <a:lnTo>
                    <a:pt x="140716" y="480695"/>
                  </a:lnTo>
                  <a:lnTo>
                    <a:pt x="139700" y="482854"/>
                  </a:lnTo>
                  <a:lnTo>
                    <a:pt x="139065" y="483870"/>
                  </a:lnTo>
                  <a:lnTo>
                    <a:pt x="139065" y="487172"/>
                  </a:lnTo>
                  <a:lnTo>
                    <a:pt x="139700" y="488315"/>
                  </a:lnTo>
                  <a:lnTo>
                    <a:pt x="140716" y="490474"/>
                  </a:lnTo>
                  <a:lnTo>
                    <a:pt x="141351" y="491617"/>
                  </a:lnTo>
                  <a:lnTo>
                    <a:pt x="142875" y="492633"/>
                  </a:lnTo>
                  <a:lnTo>
                    <a:pt x="144018" y="493268"/>
                  </a:lnTo>
                  <a:lnTo>
                    <a:pt x="145669" y="493776"/>
                  </a:lnTo>
                  <a:lnTo>
                    <a:pt x="148844" y="493776"/>
                  </a:lnTo>
                  <a:lnTo>
                    <a:pt x="150495" y="493268"/>
                  </a:lnTo>
                  <a:lnTo>
                    <a:pt x="151638" y="492633"/>
                  </a:lnTo>
                  <a:lnTo>
                    <a:pt x="245618" y="398145"/>
                  </a:lnTo>
                  <a:lnTo>
                    <a:pt x="337439" y="491617"/>
                  </a:lnTo>
                  <a:lnTo>
                    <a:pt x="338582" y="492633"/>
                  </a:lnTo>
                  <a:lnTo>
                    <a:pt x="340741" y="493268"/>
                  </a:lnTo>
                  <a:lnTo>
                    <a:pt x="341884" y="493776"/>
                  </a:lnTo>
                  <a:lnTo>
                    <a:pt x="345059" y="493776"/>
                  </a:lnTo>
                  <a:lnTo>
                    <a:pt x="346202" y="493268"/>
                  </a:lnTo>
                  <a:lnTo>
                    <a:pt x="348361" y="492633"/>
                  </a:lnTo>
                  <a:lnTo>
                    <a:pt x="350520" y="490474"/>
                  </a:lnTo>
                  <a:lnTo>
                    <a:pt x="351028" y="488315"/>
                  </a:lnTo>
                  <a:lnTo>
                    <a:pt x="351663" y="487172"/>
                  </a:lnTo>
                  <a:lnTo>
                    <a:pt x="351663" y="483870"/>
                  </a:lnTo>
                  <a:lnTo>
                    <a:pt x="351028" y="482854"/>
                  </a:lnTo>
                  <a:lnTo>
                    <a:pt x="350520" y="480695"/>
                  </a:lnTo>
                  <a:lnTo>
                    <a:pt x="268503" y="398145"/>
                  </a:lnTo>
                  <a:lnTo>
                    <a:pt x="253746" y="383286"/>
                  </a:lnTo>
                  <a:lnTo>
                    <a:pt x="253746" y="329184"/>
                  </a:lnTo>
                  <a:lnTo>
                    <a:pt x="484759" y="329184"/>
                  </a:lnTo>
                  <a:lnTo>
                    <a:pt x="485775" y="328676"/>
                  </a:lnTo>
                  <a:lnTo>
                    <a:pt x="487426" y="327533"/>
                  </a:lnTo>
                  <a:lnTo>
                    <a:pt x="488569" y="326390"/>
                  </a:lnTo>
                  <a:lnTo>
                    <a:pt x="489077" y="325374"/>
                  </a:lnTo>
                  <a:lnTo>
                    <a:pt x="490220" y="324231"/>
                  </a:lnTo>
                  <a:lnTo>
                    <a:pt x="490220" y="322580"/>
                  </a:lnTo>
                  <a:lnTo>
                    <a:pt x="490728" y="320929"/>
                  </a:lnTo>
                  <a:lnTo>
                    <a:pt x="490728" y="279400"/>
                  </a:lnTo>
                  <a:lnTo>
                    <a:pt x="490728" y="49276"/>
                  </a:lnTo>
                  <a:lnTo>
                    <a:pt x="490728" y="8255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31415">
              <a:lnSpc>
                <a:spcPct val="100000"/>
              </a:lnSpc>
              <a:spcBef>
                <a:spcPts val="95"/>
              </a:spcBef>
            </a:pPr>
            <a:r>
              <a:rPr dirty="0"/>
              <a:t>Outcomes</a:t>
            </a:r>
            <a:r>
              <a:rPr spc="-100" dirty="0"/>
              <a:t> </a:t>
            </a:r>
            <a:r>
              <a:rPr dirty="0"/>
              <a:t>of</a:t>
            </a:r>
            <a:r>
              <a:rPr spc="-75" dirty="0"/>
              <a:t> </a:t>
            </a:r>
            <a:r>
              <a:rPr dirty="0"/>
              <a:t>this</a:t>
            </a:r>
            <a:r>
              <a:rPr spc="-90" dirty="0"/>
              <a:t> </a:t>
            </a:r>
            <a:r>
              <a:rPr spc="-10" dirty="0"/>
              <a:t>lecture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3838"/>
            <a:ext cx="7911465" cy="44151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20205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required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plan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data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analytics</a:t>
            </a:r>
            <a:r>
              <a:rPr sz="2800" b="0" spc="-1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project.</a:t>
            </a:r>
            <a:r>
              <a:rPr sz="2800" b="0" spc="-1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Particularly:</a:t>
            </a:r>
            <a:endParaRPr sz="28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stakeholders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involved</a:t>
            </a:r>
            <a:r>
              <a:rPr sz="20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(to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context).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Why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how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assess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quality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collected</a:t>
            </a:r>
            <a:r>
              <a:rPr sz="2000" b="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data.</a:t>
            </a:r>
            <a:endParaRPr sz="2000">
              <a:latin typeface="Segoe UI Light"/>
              <a:cs typeface="Segoe UI Light"/>
            </a:endParaRPr>
          </a:p>
          <a:p>
            <a:pPr marL="812800" marR="310515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Understanding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20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goals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 data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analytics project.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Specifying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tools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used, 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Post</a:t>
            </a:r>
            <a:r>
              <a:rPr sz="20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collection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activities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(i.e.,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happens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afterwards).</a:t>
            </a:r>
            <a:endParaRPr sz="2000">
              <a:latin typeface="Segoe UI Light"/>
              <a:cs typeface="Segoe UI Light"/>
            </a:endParaRPr>
          </a:p>
          <a:p>
            <a:pPr lvl="1">
              <a:lnSpc>
                <a:spcPct val="100000"/>
              </a:lnSpc>
              <a:spcBef>
                <a:spcPts val="15"/>
              </a:spcBef>
              <a:buClr>
                <a:srgbClr val="FFFFFF"/>
              </a:buClr>
              <a:buFont typeface="Arial"/>
              <a:buChar char="•"/>
            </a:pPr>
            <a:endParaRPr sz="2500">
              <a:latin typeface="Segoe UI Light"/>
              <a:cs typeface="Segoe UI Light"/>
            </a:endParaRPr>
          </a:p>
          <a:p>
            <a:pPr marL="354330" marR="5080" indent="-342265" algn="just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how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apply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these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theoretical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aspects 	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real-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world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analytics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scenario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using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adapted 	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IBM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framework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called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CRISP-</a:t>
            </a:r>
            <a:r>
              <a:rPr sz="2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DM.</a:t>
            </a:r>
            <a:endParaRPr sz="2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833370">
              <a:lnSpc>
                <a:spcPct val="100000"/>
              </a:lnSpc>
              <a:spcBef>
                <a:spcPts val="95"/>
              </a:spcBef>
            </a:pPr>
            <a:r>
              <a:rPr dirty="0"/>
              <a:t>Module</a:t>
            </a:r>
            <a:r>
              <a:rPr spc="-100" dirty="0"/>
              <a:t> </a:t>
            </a:r>
            <a:r>
              <a:rPr spc="-10" dirty="0"/>
              <a:t>framework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6886"/>
            <a:ext cx="7919720" cy="51777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206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dark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blue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(as illustrated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analytics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life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cycle)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contains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activities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that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enable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plan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 an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analytics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project.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lecture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am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going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to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introduce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framework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assist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with</a:t>
            </a:r>
            <a:r>
              <a:rPr sz="1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overall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interpretation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our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case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study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narratives.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model is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called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CRISP-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DM.</a:t>
            </a:r>
            <a:endParaRPr sz="1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0"/>
              </a:spcBef>
              <a:buFont typeface="Arial"/>
              <a:buChar char="•"/>
            </a:pPr>
            <a:endParaRPr sz="1600">
              <a:latin typeface="Segoe UI Light"/>
              <a:cs typeface="Segoe UI Light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CRISP-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DM</a:t>
            </a:r>
            <a:r>
              <a:rPr sz="18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stands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for</a:t>
            </a:r>
            <a:r>
              <a:rPr sz="1800" b="0" spc="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cross-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industry</a:t>
            </a:r>
            <a:r>
              <a:rPr sz="1800" b="0" spc="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standard</a:t>
            </a:r>
            <a:r>
              <a:rPr sz="18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process</a:t>
            </a:r>
            <a:r>
              <a:rPr sz="18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for</a:t>
            </a:r>
            <a:r>
              <a:rPr sz="1800" b="0" spc="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data</a:t>
            </a:r>
            <a:r>
              <a:rPr sz="18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mining.</a:t>
            </a:r>
            <a:r>
              <a:rPr sz="1800" b="0" spc="50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Although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focused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mining,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relevant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context,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because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i="1" dirty="0">
                <a:solidFill>
                  <a:srgbClr val="FFFFFF"/>
                </a:solidFill>
                <a:latin typeface="Segoe UI Light"/>
                <a:cs typeface="Segoe UI Light"/>
              </a:rPr>
              <a:t>“…industry, tool,</a:t>
            </a:r>
            <a:r>
              <a:rPr sz="1800" b="0" i="1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i="1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800" b="0" i="1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i="1" dirty="0">
                <a:solidFill>
                  <a:srgbClr val="FFFFFF"/>
                </a:solidFill>
                <a:latin typeface="Segoe UI Light"/>
                <a:cs typeface="Segoe UI Light"/>
              </a:rPr>
              <a:t>application</a:t>
            </a:r>
            <a:r>
              <a:rPr sz="1800" b="0" i="1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i="1" dirty="0">
                <a:solidFill>
                  <a:srgbClr val="FFFFFF"/>
                </a:solidFill>
                <a:latin typeface="Segoe UI Light"/>
                <a:cs typeface="Segoe UI Light"/>
              </a:rPr>
              <a:t>neutral.”</a:t>
            </a:r>
            <a:r>
              <a:rPr sz="1800" b="0" i="1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quoted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i="1" spc="-10" dirty="0">
                <a:solidFill>
                  <a:srgbClr val="FFFFFF"/>
                </a:solidFill>
                <a:latin typeface="Segoe UI Light"/>
                <a:cs typeface="Segoe UI Light"/>
              </a:rPr>
              <a:t>“…most widely-</a:t>
            </a:r>
            <a:r>
              <a:rPr sz="1800" b="0" i="1" dirty="0">
                <a:solidFill>
                  <a:srgbClr val="FFFFFF"/>
                </a:solidFill>
                <a:latin typeface="Segoe UI Light"/>
                <a:cs typeface="Segoe UI Light"/>
              </a:rPr>
              <a:t>used</a:t>
            </a:r>
            <a:r>
              <a:rPr sz="1800" b="0" i="1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i="1" dirty="0">
                <a:solidFill>
                  <a:srgbClr val="FFFFFF"/>
                </a:solidFill>
                <a:latin typeface="Segoe UI Light"/>
                <a:cs typeface="Segoe UI Light"/>
              </a:rPr>
              <a:t>analytics</a:t>
            </a:r>
            <a:r>
              <a:rPr sz="1800" b="0" i="1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i="1" dirty="0">
                <a:solidFill>
                  <a:srgbClr val="FFFFFF"/>
                </a:solidFill>
                <a:latin typeface="Segoe UI Light"/>
                <a:cs typeface="Segoe UI Light"/>
              </a:rPr>
              <a:t>model”.</a:t>
            </a:r>
            <a:r>
              <a:rPr sz="1800" b="0" i="1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5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within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context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module,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have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made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several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adaptations.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 the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most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part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greatly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emphasised</a:t>
            </a:r>
            <a:r>
              <a:rPr sz="1800" b="0" spc="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Business</a:t>
            </a:r>
            <a:r>
              <a:rPr sz="18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Understanding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phase</a:t>
            </a:r>
            <a:r>
              <a:rPr sz="18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(as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per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original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framework).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There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also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elements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Understanding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phase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(see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lecture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5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more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detailed breakdown).</a:t>
            </a:r>
            <a:endParaRPr sz="1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"/>
              <a:buChar char="•"/>
            </a:pPr>
            <a:endParaRPr sz="1600">
              <a:latin typeface="Segoe UI Light"/>
              <a:cs typeface="Segoe UI Light"/>
            </a:endParaRPr>
          </a:p>
          <a:p>
            <a:pPr marL="355600" marR="782955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widely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used,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but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mainly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implemented by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IBM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their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SPSS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Modeler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statistical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product.</a:t>
            </a:r>
            <a:endParaRPr sz="1800">
              <a:latin typeface="Segoe UI Light"/>
              <a:cs typeface="Segoe UI Light"/>
            </a:endParaRPr>
          </a:p>
          <a:p>
            <a:pPr marL="355600" marR="29209" indent="-343535">
              <a:lnSpc>
                <a:spcPct val="100000"/>
              </a:lnSpc>
              <a:spcBef>
                <a:spcPts val="1680"/>
              </a:spcBef>
              <a:buFont typeface="Arial"/>
              <a:buChar char="•"/>
              <a:tabLst>
                <a:tab pos="3556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adapted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CRISP-DM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framework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become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CORE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aspects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module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so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please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pay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attention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its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application.</a:t>
            </a:r>
            <a:endParaRPr sz="1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215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business</a:t>
            </a:r>
            <a:r>
              <a:rPr spc="-95" dirty="0"/>
              <a:t> </a:t>
            </a:r>
            <a:r>
              <a:rPr dirty="0"/>
              <a:t>context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phase</a:t>
            </a:r>
            <a:r>
              <a:rPr spc="-7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3838"/>
            <a:ext cx="7868920" cy="5146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42113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According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our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framework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phase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is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comprised</a:t>
            </a:r>
            <a:r>
              <a:rPr sz="2800" b="0" spc="-1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800" b="0" spc="-1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understanding:</a:t>
            </a:r>
            <a:endParaRPr sz="28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8128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business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context,</a:t>
            </a:r>
            <a:endParaRPr sz="24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24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objectives,</a:t>
            </a:r>
            <a:endParaRPr sz="24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128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success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criteria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our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analysis,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endParaRPr sz="2400">
              <a:latin typeface="Segoe UI Light"/>
              <a:cs typeface="Segoe UI Light"/>
            </a:endParaRPr>
          </a:p>
          <a:p>
            <a:pPr marL="812800" lvl="1" indent="-342900">
              <a:lnSpc>
                <a:spcPts val="2875"/>
              </a:lnSpc>
              <a:buFont typeface="Arial"/>
              <a:buChar char="•"/>
              <a:tabLst>
                <a:tab pos="8128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risks,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constraints,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budget</a:t>
            </a:r>
            <a:r>
              <a:rPr sz="2400" b="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project.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ts val="3354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following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can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inform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understanding:</a:t>
            </a:r>
            <a:endParaRPr sz="28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8128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4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4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industry</a:t>
            </a:r>
            <a:r>
              <a:rPr sz="2400" b="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4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operates</a:t>
            </a:r>
            <a:r>
              <a:rPr sz="2400" b="0" spc="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in,</a:t>
            </a:r>
            <a:endParaRPr sz="24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problems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challenges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face,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endParaRPr sz="2400">
              <a:latin typeface="Segoe UI Light"/>
              <a:cs typeface="Segoe UI Light"/>
            </a:endParaRPr>
          </a:p>
          <a:p>
            <a:pPr marL="812800" lvl="1" indent="-342900">
              <a:lnSpc>
                <a:spcPts val="2875"/>
              </a:lnSpc>
              <a:buFont typeface="Arial"/>
              <a:buChar char="•"/>
              <a:tabLst>
                <a:tab pos="8128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Their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goals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future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growth.</a:t>
            </a:r>
            <a:endParaRPr sz="2400">
              <a:latin typeface="Segoe UI Light"/>
              <a:cs typeface="Segoe UI Light"/>
            </a:endParaRPr>
          </a:p>
          <a:p>
            <a:pPr marL="355600" marR="5080" indent="-343535">
              <a:lnSpc>
                <a:spcPts val="3360"/>
              </a:lnSpc>
              <a:spcBef>
                <a:spcPts val="9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Understanding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growth</a:t>
            </a:r>
            <a:r>
              <a:rPr sz="2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important,</a:t>
            </a:r>
            <a:r>
              <a:rPr sz="2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so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to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identify</a:t>
            </a:r>
            <a:r>
              <a:rPr sz="2800" b="0" spc="-114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those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problems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obscure</a:t>
            </a:r>
            <a:r>
              <a:rPr sz="2800" b="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achieving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2800" b="0" spc="-1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goals.</a:t>
            </a:r>
            <a:endParaRPr sz="2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962150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70" dirty="0"/>
              <a:t> </a:t>
            </a:r>
            <a:r>
              <a:rPr dirty="0"/>
              <a:t>business</a:t>
            </a:r>
            <a:r>
              <a:rPr spc="-95" dirty="0"/>
              <a:t> </a:t>
            </a:r>
            <a:r>
              <a:rPr dirty="0"/>
              <a:t>context</a:t>
            </a:r>
            <a:r>
              <a:rPr spc="-4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phase</a:t>
            </a:r>
            <a:r>
              <a:rPr spc="-7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3838"/>
            <a:ext cx="7945755" cy="594233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44500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client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(or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case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study)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mention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specific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objectives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(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1.1</a:t>
            </a:r>
            <a:r>
              <a:rPr sz="2800" b="0" spc="-8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in</a:t>
            </a:r>
            <a:r>
              <a:rPr sz="2800" b="0" spc="-8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framework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)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like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following:</a:t>
            </a:r>
            <a:endParaRPr sz="28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want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retain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their</a:t>
            </a:r>
            <a:r>
              <a:rPr sz="20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customers.</a:t>
            </a:r>
            <a:endParaRPr sz="2000">
              <a:latin typeface="Segoe UI Light"/>
              <a:cs typeface="Segoe UI Light"/>
            </a:endParaRPr>
          </a:p>
          <a:p>
            <a:pPr marL="812800" marR="194945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They might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want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why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their</a:t>
            </a:r>
            <a:r>
              <a:rPr sz="20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customers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loyal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their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products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anymore.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words,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why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leaving?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Will,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has,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change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inventory</a:t>
            </a:r>
            <a:r>
              <a:rPr sz="20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(stock)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resulted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more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sales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endParaRPr sz="2000">
              <a:latin typeface="Segoe UI Light"/>
              <a:cs typeface="Segoe UI Light"/>
            </a:endParaRPr>
          </a:p>
          <a:p>
            <a:pPr marL="812800">
              <a:lnSpc>
                <a:spcPts val="2390"/>
              </a:lnSpc>
              <a:spcBef>
                <a:spcPts val="5"/>
              </a:spcBef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000" b="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particular</a:t>
            </a:r>
            <a:r>
              <a:rPr sz="2000" b="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product?</a:t>
            </a:r>
            <a:endParaRPr sz="2000">
              <a:latin typeface="Segoe UI Light"/>
              <a:cs typeface="Segoe UI Light"/>
            </a:endParaRPr>
          </a:p>
          <a:p>
            <a:pPr marL="355600" marR="41275" indent="-343535">
              <a:lnSpc>
                <a:spcPts val="336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Develop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success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criteria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(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1.2</a:t>
            </a:r>
            <a:r>
              <a:rPr sz="2800" b="0" spc="-9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in</a:t>
            </a:r>
            <a:r>
              <a:rPr sz="2800" b="0" spc="-9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framework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)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as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outlined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by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client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(or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case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study).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following</a:t>
            </a:r>
            <a:endParaRPr sz="2800">
              <a:latin typeface="Segoe UI Light"/>
              <a:cs typeface="Segoe UI Light"/>
            </a:endParaRPr>
          </a:p>
          <a:p>
            <a:pPr marL="355600">
              <a:lnSpc>
                <a:spcPts val="3250"/>
              </a:lnSpc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examples:</a:t>
            </a:r>
            <a:endParaRPr sz="2800">
              <a:latin typeface="Segoe UI Light"/>
              <a:cs typeface="Segoe UI Light"/>
            </a:endParaRPr>
          </a:p>
          <a:p>
            <a:pPr marL="812800" marR="415925" lvl="1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want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quantify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specific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issues,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requires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data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analysis.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Or,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actually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reduce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number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customers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leave.</a:t>
            </a:r>
            <a:endParaRPr sz="2000">
              <a:latin typeface="Segoe UI Light"/>
              <a:cs typeface="Segoe UI Light"/>
            </a:endParaRPr>
          </a:p>
          <a:p>
            <a:pPr marL="812800" marR="508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want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simply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achieve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greater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critical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insight. This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a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crucial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one,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leverage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one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heavily when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interpret graphs/visualisations.</a:t>
            </a:r>
            <a:endParaRPr sz="20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8084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65" dirty="0"/>
              <a:t> </a:t>
            </a:r>
            <a:r>
              <a:rPr dirty="0"/>
              <a:t>business</a:t>
            </a:r>
            <a:r>
              <a:rPr spc="-90" dirty="0"/>
              <a:t> </a:t>
            </a:r>
            <a:r>
              <a:rPr dirty="0"/>
              <a:t>context</a:t>
            </a:r>
            <a:r>
              <a:rPr spc="-30" dirty="0"/>
              <a:t> </a:t>
            </a:r>
            <a:r>
              <a:rPr dirty="0"/>
              <a:t>–</a:t>
            </a:r>
            <a:r>
              <a:rPr spc="-50" dirty="0"/>
              <a:t> </a:t>
            </a:r>
            <a:r>
              <a:rPr dirty="0"/>
              <a:t>still</a:t>
            </a:r>
            <a:r>
              <a:rPr spc="-85" dirty="0"/>
              <a:t> </a:t>
            </a:r>
            <a:r>
              <a:rPr dirty="0"/>
              <a:t>phase</a:t>
            </a:r>
            <a:r>
              <a:rPr spc="-55" dirty="0"/>
              <a:t> </a:t>
            </a:r>
            <a:r>
              <a:rPr spc="-50" dirty="0"/>
              <a:t>1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5363"/>
            <a:ext cx="7954009" cy="49072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Enables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more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detailed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assessment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(</a:t>
            </a:r>
            <a:r>
              <a:rPr sz="2400" b="0" dirty="0">
                <a:solidFill>
                  <a:srgbClr val="FFFF00"/>
                </a:solidFill>
                <a:latin typeface="Segoe UI Light"/>
                <a:cs typeface="Segoe UI Light"/>
              </a:rPr>
              <a:t>1.3</a:t>
            </a:r>
            <a:r>
              <a:rPr sz="24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00"/>
                </a:solidFill>
                <a:latin typeface="Segoe UI Light"/>
                <a:cs typeface="Segoe UI Light"/>
              </a:rPr>
              <a:t>in</a:t>
            </a:r>
            <a:r>
              <a:rPr sz="2400" b="0" spc="-3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framework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):</a:t>
            </a:r>
            <a:endParaRPr sz="24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800" algn="l"/>
              </a:tabLst>
            </a:pP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risks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be to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achieve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objectives.</a:t>
            </a:r>
            <a:endParaRPr sz="1400">
              <a:latin typeface="Segoe UI Light"/>
              <a:cs typeface="Segoe UI Light"/>
            </a:endParaRPr>
          </a:p>
          <a:p>
            <a:pPr marL="812800" marR="508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constraints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there?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example,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client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access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all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(i.e.,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only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subset).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limits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accuracy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their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analysis.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budget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to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perform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in-depth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r>
              <a:rPr sz="1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either.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All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outlined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by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client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module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case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study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scenarios.</a:t>
            </a:r>
            <a:endParaRPr sz="1400">
              <a:latin typeface="Segoe UI Light"/>
              <a:cs typeface="Segoe UI Light"/>
            </a:endParaRPr>
          </a:p>
          <a:p>
            <a:pPr marL="355600" indent="-342900">
              <a:lnSpc>
                <a:spcPts val="2855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outputs/results of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assessment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include:</a:t>
            </a:r>
            <a:endParaRPr sz="2400">
              <a:latin typeface="Segoe UI Light"/>
              <a:cs typeface="Segoe UI Light"/>
            </a:endParaRPr>
          </a:p>
          <a:p>
            <a:pPr marL="812800" marR="514984" lvl="1" indent="-3429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812800" algn="l"/>
              </a:tabLst>
            </a:pP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inventory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resources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available,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which may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include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technical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support,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actual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data,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computational</a:t>
            </a:r>
            <a:r>
              <a:rPr sz="14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power,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software.</a:t>
            </a:r>
            <a:endParaRPr sz="14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List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constraints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4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include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following:</a:t>
            </a:r>
            <a:endParaRPr sz="1400">
              <a:latin typeface="Segoe UI Light"/>
              <a:cs typeface="Segoe UI Light"/>
            </a:endParaRPr>
          </a:p>
          <a:p>
            <a:pPr marL="1270000" lvl="2" indent="-342900">
              <a:lnSpc>
                <a:spcPct val="100000"/>
              </a:lnSpc>
              <a:buFont typeface="Arial"/>
              <a:buChar char="•"/>
              <a:tabLst>
                <a:tab pos="1270000" algn="l"/>
              </a:tabLst>
            </a:pP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12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quality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expectations</a:t>
            </a:r>
            <a:r>
              <a:rPr sz="12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2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there?</a:t>
            </a:r>
            <a:endParaRPr sz="1200">
              <a:latin typeface="Segoe UI Light"/>
              <a:cs typeface="Segoe UI Light"/>
            </a:endParaRPr>
          </a:p>
          <a:p>
            <a:pPr marL="1270000" marR="5715" lvl="2" indent="-342900">
              <a:lnSpc>
                <a:spcPct val="100000"/>
              </a:lnSpc>
              <a:buFont typeface="Arial"/>
              <a:buChar char="•"/>
              <a:tabLst>
                <a:tab pos="1270000" algn="l"/>
              </a:tabLst>
            </a:pP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2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2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allowed</a:t>
            </a:r>
            <a:r>
              <a:rPr sz="12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12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data,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there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restrictions?</a:t>
            </a:r>
            <a:r>
              <a:rPr sz="12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2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12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words,</a:t>
            </a:r>
            <a:r>
              <a:rPr sz="12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2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allowed</a:t>
            </a:r>
            <a:r>
              <a:rPr sz="12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2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report</a:t>
            </a:r>
            <a:r>
              <a:rPr sz="12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all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your results</a:t>
            </a:r>
            <a:r>
              <a:rPr sz="12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or only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portion</a:t>
            </a:r>
            <a:r>
              <a:rPr sz="12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thereof?</a:t>
            </a:r>
            <a:endParaRPr sz="1200">
              <a:latin typeface="Segoe UI Light"/>
              <a:cs typeface="Segoe UI Light"/>
            </a:endParaRPr>
          </a:p>
          <a:p>
            <a:pPr marL="1270000" lvl="2" indent="-342900">
              <a:lnSpc>
                <a:spcPct val="100000"/>
              </a:lnSpc>
              <a:buFont typeface="Arial"/>
              <a:buChar char="•"/>
              <a:tabLst>
                <a:tab pos="1270000" algn="l"/>
              </a:tabLst>
            </a:pP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2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2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only</a:t>
            </a:r>
            <a:r>
              <a:rPr sz="12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using</a:t>
            </a:r>
            <a:r>
              <a:rPr sz="12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2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small portion of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data,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if</a:t>
            </a:r>
            <a:r>
              <a:rPr sz="12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dirty="0">
                <a:solidFill>
                  <a:srgbClr val="FFFFFF"/>
                </a:solidFill>
                <a:latin typeface="Segoe UI Light"/>
                <a:cs typeface="Segoe UI Light"/>
              </a:rPr>
              <a:t>very</a:t>
            </a:r>
            <a:r>
              <a:rPr sz="12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2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large?</a:t>
            </a:r>
            <a:endParaRPr sz="1200">
              <a:latin typeface="Segoe UI Light"/>
              <a:cs typeface="Segoe UI Light"/>
            </a:endParaRPr>
          </a:p>
          <a:p>
            <a:pPr marL="812800" marR="39751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Risks,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such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delays,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applicable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if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waiting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for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statisticians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complete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r>
              <a:rPr sz="1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work.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wait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become</a:t>
            </a:r>
            <a:r>
              <a:rPr sz="14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available.</a:t>
            </a:r>
            <a:endParaRPr sz="1400">
              <a:latin typeface="Segoe UI Light"/>
              <a:cs typeface="Segoe UI Light"/>
            </a:endParaRPr>
          </a:p>
          <a:p>
            <a:pPr marL="812800" marR="201295" lvl="1" indent="-342900" algn="just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Accepted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terminology.</a:t>
            </a:r>
            <a:r>
              <a:rPr sz="14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Here,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am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referring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varied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terms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used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by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analysts.</a:t>
            </a:r>
            <a:r>
              <a:rPr sz="14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example,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one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analyst</a:t>
            </a:r>
            <a:r>
              <a:rPr sz="1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different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terms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from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next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using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different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languages</a:t>
            </a:r>
            <a:r>
              <a:rPr sz="1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(i.e.,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one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analyst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French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Chinese).</a:t>
            </a:r>
            <a:endParaRPr sz="1400">
              <a:latin typeface="Segoe UI Light"/>
              <a:cs typeface="Segoe UI Light"/>
            </a:endParaRPr>
          </a:p>
          <a:p>
            <a:pPr marL="812800" marR="50800" lvl="1" indent="-342900" algn="just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12800" algn="l"/>
              </a:tabLst>
            </a:pP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Cost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benefit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using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actual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budgetary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figures.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words,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does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amount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money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be spent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justify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results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 be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gained?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would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argue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1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difficult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answer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early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on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one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never</a:t>
            </a:r>
            <a:r>
              <a:rPr sz="1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sure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until</a:t>
            </a:r>
            <a:r>
              <a:rPr sz="1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at</a:t>
            </a:r>
            <a:r>
              <a:rPr sz="1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least</a:t>
            </a:r>
            <a:r>
              <a:rPr sz="1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r>
              <a:rPr sz="1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done.</a:t>
            </a:r>
            <a:endParaRPr sz="1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379345">
              <a:lnSpc>
                <a:spcPct val="100000"/>
              </a:lnSpc>
              <a:spcBef>
                <a:spcPts val="95"/>
              </a:spcBef>
            </a:pPr>
            <a:r>
              <a:rPr dirty="0"/>
              <a:t>The</a:t>
            </a:r>
            <a:r>
              <a:rPr spc="-60" dirty="0"/>
              <a:t> </a:t>
            </a:r>
            <a:r>
              <a:rPr dirty="0"/>
              <a:t>data</a:t>
            </a:r>
            <a:r>
              <a:rPr spc="-45" dirty="0"/>
              <a:t> </a:t>
            </a:r>
            <a:r>
              <a:rPr dirty="0"/>
              <a:t>goals</a:t>
            </a:r>
            <a:r>
              <a:rPr spc="-40" dirty="0"/>
              <a:t> </a:t>
            </a:r>
            <a:r>
              <a:rPr dirty="0"/>
              <a:t>–</a:t>
            </a:r>
            <a:r>
              <a:rPr spc="-45" dirty="0"/>
              <a:t> </a:t>
            </a:r>
            <a:r>
              <a:rPr dirty="0"/>
              <a:t>phase</a:t>
            </a:r>
            <a:r>
              <a:rPr spc="-50" dirty="0"/>
              <a:t> 2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5363"/>
            <a:ext cx="7870825" cy="56375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According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our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framework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phase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comprised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of:</a:t>
            </a:r>
            <a:endParaRPr sz="2400">
              <a:latin typeface="Segoe UI Light"/>
              <a:cs typeface="Segoe UI Light"/>
            </a:endParaRPr>
          </a:p>
          <a:p>
            <a:pPr marL="812800" marR="512445" lvl="1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800" algn="l"/>
              </a:tabLst>
            </a:pP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Converting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objectives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into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specific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techniques (</a:t>
            </a:r>
            <a:r>
              <a:rPr sz="1600" b="0" dirty="0">
                <a:solidFill>
                  <a:srgbClr val="FFFF00"/>
                </a:solidFill>
                <a:latin typeface="Segoe UI Light"/>
                <a:cs typeface="Segoe UI Light"/>
              </a:rPr>
              <a:t>2.1</a:t>
            </a:r>
            <a:r>
              <a:rPr sz="1600" b="0" spc="-7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00"/>
                </a:solidFill>
                <a:latin typeface="Segoe UI Light"/>
                <a:cs typeface="Segoe UI Light"/>
              </a:rPr>
              <a:t>in</a:t>
            </a:r>
            <a:r>
              <a:rPr sz="1600" b="0" spc="-6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6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the </a:t>
            </a:r>
            <a:r>
              <a:rPr sz="1600" b="0" dirty="0">
                <a:solidFill>
                  <a:srgbClr val="FFFF00"/>
                </a:solidFill>
                <a:latin typeface="Segoe UI Light"/>
                <a:cs typeface="Segoe UI Light"/>
              </a:rPr>
              <a:t>framework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)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relate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actual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access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to.</a:t>
            </a:r>
            <a:endParaRPr sz="1600">
              <a:latin typeface="Segoe UI Light"/>
              <a:cs typeface="Segoe UI Light"/>
            </a:endParaRPr>
          </a:p>
          <a:p>
            <a:pPr marL="812800" lvl="1" indent="-342900">
              <a:lnSpc>
                <a:spcPts val="1910"/>
              </a:lnSpc>
              <a:buFont typeface="Arial"/>
              <a:buChar char="•"/>
              <a:tabLst>
                <a:tab pos="812800" algn="l"/>
              </a:tabLst>
            </a:pP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Developing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success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criteria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6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previous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phase.</a:t>
            </a:r>
            <a:endParaRPr sz="1600">
              <a:latin typeface="Segoe UI Light"/>
              <a:cs typeface="Segoe UI Light"/>
            </a:endParaRPr>
          </a:p>
          <a:p>
            <a:pPr marL="355600" marR="234315" indent="-343535" algn="just">
              <a:lnSpc>
                <a:spcPts val="2880"/>
              </a:lnSpc>
              <a:spcBef>
                <a:spcPts val="85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goals?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These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goals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more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technical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related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actual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access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to. As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such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24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fully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business-oriented:</a:t>
            </a:r>
            <a:endParaRPr sz="2400">
              <a:latin typeface="Segoe UI Light"/>
              <a:cs typeface="Segoe UI Light"/>
            </a:endParaRPr>
          </a:p>
          <a:p>
            <a:pPr marL="756285" lvl="1" indent="-286385">
              <a:lnSpc>
                <a:spcPts val="1845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example,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6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goal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simply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state:</a:t>
            </a:r>
            <a:endParaRPr sz="1600">
              <a:latin typeface="Segoe UI Light"/>
              <a:cs typeface="Segoe UI Light"/>
            </a:endParaRPr>
          </a:p>
          <a:p>
            <a:pPr marL="927100">
              <a:lnSpc>
                <a:spcPct val="100000"/>
              </a:lnSpc>
              <a:spcBef>
                <a:spcPts val="5"/>
              </a:spcBef>
            </a:pP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”Which</a:t>
            </a:r>
            <a:r>
              <a:rPr sz="1600" b="0" i="1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products</a:t>
            </a:r>
            <a:r>
              <a:rPr sz="1600" b="0" i="1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600" b="0" i="1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1600" b="0" i="1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spc="-10" dirty="0">
                <a:solidFill>
                  <a:srgbClr val="FFFFFF"/>
                </a:solidFill>
                <a:latin typeface="Segoe UI Light"/>
                <a:cs typeface="Segoe UI Light"/>
              </a:rPr>
              <a:t>selling?”</a:t>
            </a:r>
            <a:endParaRPr sz="1600">
              <a:latin typeface="Segoe UI Light"/>
              <a:cs typeface="Segoe UI Light"/>
            </a:endParaRPr>
          </a:p>
          <a:p>
            <a:pPr marL="756285" marR="33655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When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convert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above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16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objective</a:t>
            </a:r>
            <a:r>
              <a:rPr sz="16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into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specifics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goal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now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changes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following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requires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16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form</a:t>
            </a:r>
            <a:r>
              <a:rPr sz="16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6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descriptive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analytics:</a:t>
            </a:r>
            <a:endParaRPr sz="1600">
              <a:latin typeface="Segoe UI Light"/>
              <a:cs typeface="Segoe UI Light"/>
            </a:endParaRPr>
          </a:p>
          <a:p>
            <a:pPr marL="927100" marR="84455">
              <a:lnSpc>
                <a:spcPct val="100000"/>
              </a:lnSpc>
            </a:pP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“Which</a:t>
            </a:r>
            <a:r>
              <a:rPr sz="1600" b="0" i="1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products</a:t>
            </a:r>
            <a:r>
              <a:rPr sz="1600" b="0" i="1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600" b="0" i="1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1600" b="0" i="1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selling</a:t>
            </a:r>
            <a:r>
              <a:rPr sz="1600" b="0" i="1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1600" b="0" i="1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influenced</a:t>
            </a:r>
            <a:r>
              <a:rPr sz="1600" b="0" i="1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by</a:t>
            </a:r>
            <a:r>
              <a:rPr sz="1600" b="0" i="1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demographic</a:t>
            </a:r>
            <a:r>
              <a:rPr sz="1600" b="0" i="1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factors,</a:t>
            </a:r>
            <a:r>
              <a:rPr sz="1600" b="0" i="1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like</a:t>
            </a:r>
            <a:r>
              <a:rPr sz="1600" b="0" i="1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age</a:t>
            </a:r>
            <a:r>
              <a:rPr sz="1600" b="0" i="1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spc="-25" dirty="0">
                <a:solidFill>
                  <a:srgbClr val="FFFFFF"/>
                </a:solidFill>
                <a:latin typeface="Segoe UI Light"/>
                <a:cs typeface="Segoe UI Light"/>
              </a:rPr>
              <a:t>and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gender</a:t>
            </a:r>
            <a:r>
              <a:rPr sz="1600" b="0" i="1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1600" b="0" i="1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1600" b="0" i="1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specific</a:t>
            </a:r>
            <a:r>
              <a:rPr sz="1600" b="0" i="1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600" b="0" i="1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1600" b="0" i="1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600" b="0" i="1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dirty="0">
                <a:solidFill>
                  <a:srgbClr val="FFFFFF"/>
                </a:solidFill>
                <a:latin typeface="Segoe UI Light"/>
                <a:cs typeface="Segoe UI Light"/>
              </a:rPr>
              <a:t>access</a:t>
            </a:r>
            <a:r>
              <a:rPr sz="1600" b="0" i="1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i="1" spc="-20" dirty="0">
                <a:solidFill>
                  <a:srgbClr val="FFFFFF"/>
                </a:solidFill>
                <a:latin typeface="Segoe UI Light"/>
                <a:cs typeface="Segoe UI Light"/>
              </a:rPr>
              <a:t>to.”</a:t>
            </a:r>
            <a:endParaRPr sz="1600">
              <a:latin typeface="Segoe UI Light"/>
              <a:cs typeface="Segoe UI Light"/>
            </a:endParaRPr>
          </a:p>
          <a:p>
            <a:pPr marL="756285" marR="5080" lvl="1" indent="-287020">
              <a:lnSpc>
                <a:spcPct val="100000"/>
              </a:lnSpc>
              <a:buFont typeface="Arial"/>
              <a:buChar char="•"/>
              <a:tabLst>
                <a:tab pos="756285" algn="l"/>
              </a:tabLst>
            </a:pP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need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get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basic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understanding</a:t>
            </a:r>
            <a:r>
              <a:rPr sz="16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actually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available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us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and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describe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that.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need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understand how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transform</a:t>
            </a:r>
            <a:r>
              <a:rPr sz="16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data.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6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includes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joins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calculations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etc.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Cleaning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features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here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(to</a:t>
            </a:r>
            <a:r>
              <a:rPr sz="16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some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extent).</a:t>
            </a:r>
            <a:endParaRPr sz="1600">
              <a:latin typeface="Segoe UI Light"/>
              <a:cs typeface="Segoe UI Light"/>
            </a:endParaRPr>
          </a:p>
          <a:p>
            <a:pPr marL="355600" marR="300355" indent="-343535" algn="just">
              <a:lnSpc>
                <a:spcPts val="2880"/>
              </a:lnSpc>
              <a:spcBef>
                <a:spcPts val="75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Developing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success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criteria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(</a:t>
            </a:r>
            <a:r>
              <a:rPr sz="2400" b="0" dirty="0">
                <a:solidFill>
                  <a:srgbClr val="FFFF00"/>
                </a:solidFill>
                <a:latin typeface="Segoe UI Light"/>
                <a:cs typeface="Segoe UI Light"/>
              </a:rPr>
              <a:t>2.2</a:t>
            </a:r>
            <a:r>
              <a:rPr sz="24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00"/>
                </a:solidFill>
                <a:latin typeface="Segoe UI Light"/>
                <a:cs typeface="Segoe UI Light"/>
              </a:rPr>
              <a:t>in</a:t>
            </a:r>
            <a:r>
              <a:rPr sz="24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00"/>
                </a:solidFill>
                <a:latin typeface="Segoe UI Light"/>
                <a:cs typeface="Segoe UI Light"/>
              </a:rPr>
              <a:t>our</a:t>
            </a:r>
            <a:r>
              <a:rPr sz="24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00"/>
                </a:solidFill>
                <a:latin typeface="Segoe UI Light"/>
                <a:cs typeface="Segoe UI Light"/>
              </a:rPr>
              <a:t>framework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),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which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include:</a:t>
            </a:r>
            <a:endParaRPr sz="2400">
              <a:latin typeface="Segoe UI Light"/>
              <a:cs typeface="Segoe UI Light"/>
            </a:endParaRPr>
          </a:p>
          <a:p>
            <a:pPr marL="812800" lvl="1" indent="-342900">
              <a:lnSpc>
                <a:spcPts val="1845"/>
              </a:lnSpc>
              <a:buFont typeface="Arial"/>
              <a:buChar char="•"/>
              <a:tabLst>
                <a:tab pos="812800" algn="l"/>
              </a:tabLst>
            </a:pP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Clear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graphs/visualisations</a:t>
            </a:r>
            <a:r>
              <a:rPr sz="16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6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easy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understand.</a:t>
            </a:r>
            <a:endParaRPr sz="16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10867" y="-66168"/>
            <a:ext cx="7760334" cy="467614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757680">
              <a:lnSpc>
                <a:spcPct val="100000"/>
              </a:lnSpc>
              <a:spcBef>
                <a:spcPts val="1610"/>
              </a:spcBef>
            </a:pP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Technologies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2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phase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3</a:t>
            </a:r>
            <a:endParaRPr sz="2800">
              <a:latin typeface="Segoe UI Light"/>
              <a:cs typeface="Segoe UI Light"/>
            </a:endParaRPr>
          </a:p>
          <a:p>
            <a:pPr marL="355600" marR="212725" indent="-343535">
              <a:lnSpc>
                <a:spcPct val="100000"/>
              </a:lnSpc>
              <a:spcBef>
                <a:spcPts val="150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Here,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take</a:t>
            </a:r>
            <a:r>
              <a:rPr sz="2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goals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decide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tool</a:t>
            </a:r>
            <a:r>
              <a:rPr sz="2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best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suited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our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analysis.</a:t>
            </a:r>
            <a:endParaRPr sz="2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Clr>
                <a:srgbClr val="FFFFFF"/>
              </a:buClr>
              <a:buFont typeface="Arial"/>
              <a:buChar char="•"/>
            </a:pPr>
            <a:endParaRPr sz="2500">
              <a:latin typeface="Segoe UI Light"/>
              <a:cs typeface="Segoe UI Light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module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only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going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perform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descriptive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analyses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therefore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answer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here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should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simply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whatever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tool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mentioned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provided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case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study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scenario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(e.g., 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Tableau,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SPSS,</a:t>
            </a:r>
            <a:r>
              <a:rPr sz="2800" b="0" spc="-10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Excel</a:t>
            </a:r>
            <a:r>
              <a:rPr sz="2800" b="0" spc="-1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etc.).</a:t>
            </a:r>
            <a:r>
              <a:rPr sz="2800" b="0" spc="-10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previous</a:t>
            </a:r>
            <a:r>
              <a:rPr sz="2800" b="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sentence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2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suffice.</a:t>
            </a:r>
            <a:endParaRPr sz="2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17445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75" dirty="0"/>
              <a:t> </a:t>
            </a:r>
            <a:r>
              <a:rPr dirty="0"/>
              <a:t>collection</a:t>
            </a:r>
            <a:r>
              <a:rPr spc="-65" dirty="0"/>
              <a:t> </a:t>
            </a:r>
            <a:r>
              <a:rPr dirty="0"/>
              <a:t>–</a:t>
            </a:r>
            <a:r>
              <a:rPr spc="-55" dirty="0"/>
              <a:t> </a:t>
            </a:r>
            <a:r>
              <a:rPr dirty="0"/>
              <a:t>phase</a:t>
            </a:r>
            <a:r>
              <a:rPr spc="-55" dirty="0"/>
              <a:t> </a:t>
            </a:r>
            <a:r>
              <a:rPr spc="-50" dirty="0"/>
              <a:t>4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3838"/>
            <a:ext cx="7893050" cy="597344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129603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Where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can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collect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our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data?</a:t>
            </a:r>
            <a:r>
              <a:rPr sz="2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(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4.1</a:t>
            </a:r>
            <a:r>
              <a:rPr sz="2800" b="0" spc="-6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in</a:t>
            </a:r>
            <a:r>
              <a:rPr sz="2800" b="0" spc="-6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our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framework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)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These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sources</a:t>
            </a:r>
            <a:r>
              <a:rPr sz="2800" b="0" spc="-114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800" b="0" spc="-114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include:</a:t>
            </a:r>
            <a:endParaRPr sz="2800">
              <a:latin typeface="Segoe UI Light"/>
              <a:cs typeface="Segoe UI Light"/>
            </a:endParaRPr>
          </a:p>
          <a:p>
            <a:pPr marL="812800" marR="5080" lvl="1" indent="-342900">
              <a:lnSpc>
                <a:spcPct val="100000"/>
              </a:lnSpc>
              <a:spcBef>
                <a:spcPts val="30"/>
              </a:spcBef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Existing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data.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Most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our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case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study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scenarios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spell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out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you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explicitly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state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going to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existing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kind.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example, sales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transactions,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logs,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even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existing</a:t>
            </a:r>
            <a:r>
              <a:rPr sz="1800" b="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survey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data.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Typically,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existing data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extracted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from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database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using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SQL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exported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into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CSV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format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(the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how).</a:t>
            </a:r>
            <a:endParaRPr sz="18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Purchased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could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used.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companies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sell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data,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endParaRPr sz="1800">
              <a:latin typeface="Segoe UI Light"/>
              <a:cs typeface="Segoe UI Light"/>
            </a:endParaRPr>
          </a:p>
          <a:p>
            <a:pPr marL="812800">
              <a:lnSpc>
                <a:spcPct val="100000"/>
              </a:lnSpc>
              <a:spcBef>
                <a:spcPts val="5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1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include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social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media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feeds.</a:t>
            </a:r>
            <a:endParaRPr sz="1800">
              <a:latin typeface="Segoe UI Light"/>
              <a:cs typeface="Segoe UI Light"/>
            </a:endParaRPr>
          </a:p>
          <a:p>
            <a:pPr marL="812800" marR="16383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Supplemental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need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used.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example,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not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achieve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success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criteria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using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only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one dataset.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turn,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requires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further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collection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 supplement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your initial</a:t>
            </a:r>
            <a:r>
              <a:rPr sz="18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collection.</a:t>
            </a:r>
            <a:endParaRPr sz="1800">
              <a:latin typeface="Segoe UI Light"/>
              <a:cs typeface="Segoe UI Light"/>
            </a:endParaRPr>
          </a:p>
          <a:p>
            <a:pPr marL="355600" indent="-342900">
              <a:lnSpc>
                <a:spcPts val="3329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Things</a:t>
            </a:r>
            <a:r>
              <a:rPr sz="2800" b="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consider</a:t>
            </a:r>
            <a:r>
              <a:rPr sz="2800" b="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when</a:t>
            </a:r>
            <a:r>
              <a:rPr sz="2800" b="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collecting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data:</a:t>
            </a:r>
            <a:endParaRPr sz="2800">
              <a:latin typeface="Segoe UI Light"/>
              <a:cs typeface="Segoe UI Light"/>
            </a:endParaRPr>
          </a:p>
          <a:p>
            <a:pPr marL="812800" marR="391795" lvl="1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Can</a:t>
            </a:r>
            <a:r>
              <a:rPr sz="1800" b="0" spc="-3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your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results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be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generalized?</a:t>
            </a:r>
            <a:r>
              <a:rPr sz="1800" b="0" spc="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words,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can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we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state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our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analytic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results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always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same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 any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sample we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use.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this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module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case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should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standard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answer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here.</a:t>
            </a:r>
            <a:endParaRPr sz="1800">
              <a:latin typeface="Segoe UI Light"/>
              <a:cs typeface="Segoe UI Light"/>
            </a:endParaRPr>
          </a:p>
          <a:p>
            <a:pPr marL="812800" marR="201295" lvl="1" indent="-3429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Are</a:t>
            </a:r>
            <a:r>
              <a:rPr sz="18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there</a:t>
            </a:r>
            <a:r>
              <a:rPr sz="18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lots</a:t>
            </a:r>
            <a:r>
              <a:rPr sz="18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of</a:t>
            </a:r>
            <a:r>
              <a:rPr sz="18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missing</a:t>
            </a:r>
            <a:r>
              <a:rPr sz="18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values</a:t>
            </a:r>
            <a:r>
              <a:rPr sz="18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(or</a:t>
            </a:r>
            <a:r>
              <a:rPr sz="18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duplicates)?</a:t>
            </a:r>
            <a:r>
              <a:rPr sz="1800" b="0" spc="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influences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perceived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(and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actual)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quality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well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any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results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derived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from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data.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If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there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lots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missing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values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then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perceived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data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quality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low.</a:t>
            </a:r>
            <a:endParaRPr sz="1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-1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76868" y="31750"/>
                </a:moveTo>
                <a:lnTo>
                  <a:pt x="1440054" y="31750"/>
                </a:lnTo>
                <a:lnTo>
                  <a:pt x="1440054" y="44450"/>
                </a:lnTo>
                <a:lnTo>
                  <a:pt x="1403234" y="44459"/>
                </a:lnTo>
                <a:lnTo>
                  <a:pt x="1404943" y="52947"/>
                </a:lnTo>
                <a:lnTo>
                  <a:pt x="1413098" y="65055"/>
                </a:lnTo>
                <a:lnTo>
                  <a:pt x="1425207" y="73211"/>
                </a:lnTo>
                <a:lnTo>
                  <a:pt x="1440054" y="76200"/>
                </a:lnTo>
                <a:lnTo>
                  <a:pt x="1454848" y="73211"/>
                </a:lnTo>
                <a:lnTo>
                  <a:pt x="1466962" y="65055"/>
                </a:lnTo>
                <a:lnTo>
                  <a:pt x="1475148" y="52947"/>
                </a:lnTo>
                <a:lnTo>
                  <a:pt x="1478154" y="38100"/>
                </a:lnTo>
                <a:lnTo>
                  <a:pt x="1476868" y="31750"/>
                </a:lnTo>
                <a:close/>
              </a:path>
              <a:path w="1478280" h="76200">
                <a:moveTo>
                  <a:pt x="1403230" y="31759"/>
                </a:moveTo>
                <a:lnTo>
                  <a:pt x="0" y="32130"/>
                </a:lnTo>
                <a:lnTo>
                  <a:pt x="3" y="44830"/>
                </a:lnTo>
                <a:lnTo>
                  <a:pt x="1403234" y="44459"/>
                </a:lnTo>
                <a:lnTo>
                  <a:pt x="1401954" y="38100"/>
                </a:lnTo>
                <a:lnTo>
                  <a:pt x="1403230" y="31759"/>
                </a:lnTo>
                <a:close/>
              </a:path>
              <a:path w="1478280" h="76200">
                <a:moveTo>
                  <a:pt x="1440054" y="31750"/>
                </a:moveTo>
                <a:lnTo>
                  <a:pt x="1403230" y="31759"/>
                </a:lnTo>
                <a:lnTo>
                  <a:pt x="1401954" y="38100"/>
                </a:lnTo>
                <a:lnTo>
                  <a:pt x="1403234" y="44459"/>
                </a:lnTo>
                <a:lnTo>
                  <a:pt x="1440054" y="44450"/>
                </a:lnTo>
                <a:lnTo>
                  <a:pt x="1440054" y="31750"/>
                </a:lnTo>
                <a:close/>
              </a:path>
              <a:path w="1478280" h="76200">
                <a:moveTo>
                  <a:pt x="1439927" y="0"/>
                </a:moveTo>
                <a:lnTo>
                  <a:pt x="1425154" y="2988"/>
                </a:lnTo>
                <a:lnTo>
                  <a:pt x="1413083" y="11144"/>
                </a:lnTo>
                <a:lnTo>
                  <a:pt x="1404941" y="23252"/>
                </a:lnTo>
                <a:lnTo>
                  <a:pt x="1403230" y="31759"/>
                </a:lnTo>
                <a:lnTo>
                  <a:pt x="1476868" y="31750"/>
                </a:lnTo>
                <a:lnTo>
                  <a:pt x="1475146" y="23252"/>
                </a:lnTo>
                <a:lnTo>
                  <a:pt x="1466946" y="11144"/>
                </a:lnTo>
                <a:lnTo>
                  <a:pt x="1454794" y="2988"/>
                </a:lnTo>
                <a:lnTo>
                  <a:pt x="1439927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/>
          <p:nvPr/>
        </p:nvSpPr>
        <p:spPr>
          <a:xfrm>
            <a:off x="2110867" y="-66168"/>
            <a:ext cx="7517130" cy="3822700"/>
          </a:xfrm>
          <a:prstGeom prst="rect">
            <a:avLst/>
          </a:prstGeom>
        </p:spPr>
        <p:txBody>
          <a:bodyPr vert="horz" wrap="square" lIns="0" tIns="204470" rIns="0" bIns="0" rtlCol="0">
            <a:spAutoFit/>
          </a:bodyPr>
          <a:lstStyle/>
          <a:p>
            <a:pPr marL="1221740">
              <a:lnSpc>
                <a:spcPct val="100000"/>
              </a:lnSpc>
              <a:spcBef>
                <a:spcPts val="1610"/>
              </a:spcBef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(after)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collection</a:t>
            </a:r>
            <a:r>
              <a:rPr sz="2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2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cleaning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endParaRPr sz="2800">
              <a:latin typeface="Segoe UI Light"/>
              <a:cs typeface="Segoe UI Light"/>
            </a:endParaRPr>
          </a:p>
          <a:p>
            <a:pPr marL="355600" marR="199390" indent="-343535">
              <a:lnSpc>
                <a:spcPct val="100000"/>
              </a:lnSpc>
              <a:spcBef>
                <a:spcPts val="150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Here,</a:t>
            </a:r>
            <a:r>
              <a:rPr sz="2800" b="0" spc="-10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analyst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removes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incomplete</a:t>
            </a:r>
            <a:r>
              <a:rPr sz="2800" b="0" spc="-114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(missing),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duplicate,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800" b="0" spc="-114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irrelevant</a:t>
            </a:r>
            <a:r>
              <a:rPr sz="2800" b="0" spc="-1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(usually</a:t>
            </a:r>
            <a:r>
              <a:rPr sz="2800" b="0" spc="-10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outliers)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data.</a:t>
            </a:r>
            <a:endParaRPr sz="2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500">
              <a:latin typeface="Segoe UI Light"/>
              <a:cs typeface="Segoe UI Light"/>
            </a:endParaRPr>
          </a:p>
          <a:p>
            <a:pPr marL="355600" marR="508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This</a:t>
            </a:r>
            <a:r>
              <a:rPr sz="2800" b="0" spc="-6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is</a:t>
            </a:r>
            <a:r>
              <a:rPr sz="2800" b="0" spc="-7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a</a:t>
            </a:r>
            <a:r>
              <a:rPr sz="2800" b="0" spc="-7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MUST</a:t>
            </a:r>
            <a:r>
              <a:rPr sz="2800" b="0" spc="-6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and</a:t>
            </a:r>
            <a:r>
              <a:rPr sz="2800" b="0" spc="-7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always</a:t>
            </a:r>
            <a:r>
              <a:rPr sz="2800" b="0" spc="-5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first</a:t>
            </a:r>
            <a:r>
              <a:rPr sz="2800" b="0" spc="-5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before</a:t>
            </a:r>
            <a:r>
              <a:rPr sz="2800" b="0" spc="-7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00"/>
                </a:solidFill>
                <a:latin typeface="Segoe UI Light"/>
                <a:cs typeface="Segoe UI Light"/>
              </a:rPr>
              <a:t>doing</a:t>
            </a:r>
            <a:r>
              <a:rPr sz="2800" b="0" spc="-7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any </a:t>
            </a:r>
            <a:r>
              <a:rPr sz="2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analytics.</a:t>
            </a:r>
            <a:endParaRPr sz="28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35"/>
              </a:spcBef>
              <a:buFont typeface="Arial"/>
              <a:buChar char="•"/>
            </a:pPr>
            <a:endParaRPr sz="25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Bad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=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bad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decisions!</a:t>
            </a:r>
            <a:endParaRPr sz="2800">
              <a:latin typeface="Segoe UI Light"/>
              <a:cs typeface="Segoe UI Light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3378708" y="3886200"/>
            <a:ext cx="5485130" cy="2816860"/>
            <a:chOff x="3378708" y="3886200"/>
            <a:chExt cx="5485130" cy="2816860"/>
          </a:xfrm>
        </p:grpSpPr>
        <p:pic>
          <p:nvPicPr>
            <p:cNvPr id="5" name="object 5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3378708" y="3886200"/>
              <a:ext cx="5484876" cy="2816352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442716" y="3950207"/>
              <a:ext cx="5306568" cy="2638044"/>
            </a:xfrm>
            <a:prstGeom prst="rect">
              <a:avLst/>
            </a:prstGeom>
          </p:spPr>
        </p:pic>
        <p:sp>
          <p:nvSpPr>
            <p:cNvPr id="7" name="object 7"/>
            <p:cNvSpPr/>
            <p:nvPr/>
          </p:nvSpPr>
          <p:spPr>
            <a:xfrm>
              <a:off x="3423666" y="3931157"/>
              <a:ext cx="5344795" cy="2676525"/>
            </a:xfrm>
            <a:custGeom>
              <a:avLst/>
              <a:gdLst/>
              <a:ahLst/>
              <a:cxnLst/>
              <a:rect l="l" t="t" r="r" b="b"/>
              <a:pathLst>
                <a:path w="5344795" h="2676525">
                  <a:moveTo>
                    <a:pt x="0" y="2676144"/>
                  </a:moveTo>
                  <a:lnTo>
                    <a:pt x="5344668" y="2676144"/>
                  </a:lnTo>
                  <a:lnTo>
                    <a:pt x="5344668" y="0"/>
                  </a:lnTo>
                  <a:lnTo>
                    <a:pt x="0" y="0"/>
                  </a:lnTo>
                  <a:lnTo>
                    <a:pt x="0" y="2676144"/>
                  </a:lnTo>
                  <a:close/>
                </a:path>
              </a:pathLst>
            </a:custGeom>
            <a:ln w="38100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94361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65" dirty="0"/>
              <a:t> </a:t>
            </a:r>
            <a:r>
              <a:rPr dirty="0"/>
              <a:t>collection</a:t>
            </a:r>
            <a:r>
              <a:rPr spc="-45" dirty="0"/>
              <a:t> </a:t>
            </a:r>
            <a:r>
              <a:rPr dirty="0"/>
              <a:t>-</a:t>
            </a:r>
            <a:r>
              <a:rPr spc="-50" dirty="0"/>
              <a:t> </a:t>
            </a:r>
            <a:r>
              <a:rPr dirty="0"/>
              <a:t>verifying</a:t>
            </a:r>
            <a:r>
              <a:rPr spc="-80" dirty="0"/>
              <a:t> </a:t>
            </a:r>
            <a:r>
              <a:rPr dirty="0"/>
              <a:t>the</a:t>
            </a:r>
            <a:r>
              <a:rPr spc="-65" dirty="0"/>
              <a:t> </a:t>
            </a:r>
            <a:r>
              <a:rPr dirty="0"/>
              <a:t>quality</a:t>
            </a:r>
            <a:r>
              <a:rPr spc="-85" dirty="0"/>
              <a:t> </a:t>
            </a:r>
            <a:r>
              <a:rPr dirty="0"/>
              <a:t>of</a:t>
            </a:r>
            <a:r>
              <a:rPr spc="-55" dirty="0"/>
              <a:t> </a:t>
            </a:r>
            <a:r>
              <a:rPr spc="-20" dirty="0"/>
              <a:t>data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3838"/>
            <a:ext cx="7646670" cy="43567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8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rarely</a:t>
            </a:r>
            <a:r>
              <a:rPr sz="2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i="1" spc="-10" dirty="0">
                <a:solidFill>
                  <a:srgbClr val="FFFFFF"/>
                </a:solidFill>
                <a:latin typeface="Segoe UI Light"/>
                <a:cs typeface="Segoe UI Light"/>
              </a:rPr>
              <a:t>“perfect”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:</a:t>
            </a:r>
            <a:endParaRPr sz="28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Most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sets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inconsistent use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terms,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Incomplete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(i.e., missing)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values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(always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problem),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Incorrectly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spelled</a:t>
            </a:r>
            <a:r>
              <a:rPr sz="20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terms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or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category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options,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No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time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stamps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etc.</a:t>
            </a:r>
            <a:endParaRPr sz="2000">
              <a:latin typeface="Segoe UI Light"/>
              <a:cs typeface="Segoe UI Light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FFFFFF"/>
              </a:buClr>
              <a:buFont typeface="Arial"/>
              <a:buChar char="•"/>
            </a:pPr>
            <a:endParaRPr sz="175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“issues”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listed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above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easier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endParaRPr sz="2800">
              <a:latin typeface="Segoe UI Light"/>
              <a:cs typeface="Segoe UI Light"/>
            </a:endParaRPr>
          </a:p>
          <a:p>
            <a:pPr marL="355600">
              <a:lnSpc>
                <a:spcPct val="100000"/>
              </a:lnSpc>
            </a:pP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recognise.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However,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analysts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can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also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encounter:</a:t>
            </a:r>
            <a:endParaRPr sz="2800">
              <a:latin typeface="Segoe UI Light"/>
              <a:cs typeface="Segoe UI Light"/>
            </a:endParaRPr>
          </a:p>
          <a:p>
            <a:pPr marL="812800" marR="5080" lvl="1" indent="-342900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Measurement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error.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Here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0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correctly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formatted,</a:t>
            </a:r>
            <a:r>
              <a:rPr sz="20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but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not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measuring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phenomenon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interest.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disastrous!</a:t>
            </a:r>
            <a:endParaRPr sz="2000">
              <a:latin typeface="Segoe UI Light"/>
              <a:cs typeface="Segoe UI Light"/>
            </a:endParaRPr>
          </a:p>
          <a:p>
            <a:pPr marL="812800" marR="16002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Coding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errors.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does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refer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programming,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but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rather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incorrect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/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inconsistent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values.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example,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might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abbreviation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instead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word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i="1" spc="-10" dirty="0">
                <a:solidFill>
                  <a:srgbClr val="FFFFFF"/>
                </a:solidFill>
                <a:latin typeface="Segoe UI Light"/>
                <a:cs typeface="Segoe UI Light"/>
              </a:rPr>
              <a:t>“male”.</a:t>
            </a:r>
            <a:endParaRPr sz="20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4986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Techniques</a:t>
            </a:r>
            <a:r>
              <a:rPr spc="-6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verify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quality</a:t>
            </a:r>
            <a:r>
              <a:rPr spc="-5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survey</a:t>
            </a:r>
            <a:r>
              <a:rPr spc="-45" dirty="0"/>
              <a:t> </a:t>
            </a:r>
            <a:r>
              <a:rPr dirty="0"/>
              <a:t>data</a:t>
            </a:r>
            <a:r>
              <a:rPr spc="60" dirty="0"/>
              <a:t> </a:t>
            </a:r>
            <a:r>
              <a:rPr dirty="0"/>
              <a:t>–</a:t>
            </a:r>
            <a:r>
              <a:rPr spc="-25" dirty="0"/>
              <a:t> </a:t>
            </a:r>
            <a:r>
              <a:rPr spc="-10" dirty="0"/>
              <a:t>validity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3838"/>
            <a:ext cx="7909559" cy="533209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404495" indent="-343535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355600" algn="l"/>
              </a:tabLst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There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few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common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ways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ensure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validity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reliability</a:t>
            </a:r>
            <a:r>
              <a:rPr sz="2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survey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data.</a:t>
            </a:r>
            <a:endParaRPr sz="2800">
              <a:latin typeface="Segoe UI Light"/>
              <a:cs typeface="Segoe UI Light"/>
            </a:endParaRPr>
          </a:p>
          <a:p>
            <a:pPr marL="355600" marR="247650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NOTE:</a:t>
            </a:r>
            <a:r>
              <a:rPr sz="2800" b="0" spc="-7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Most</a:t>
            </a:r>
            <a:r>
              <a:rPr sz="2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800" b="0" spc="-10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time</a:t>
            </a:r>
            <a:r>
              <a:rPr sz="2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these</a:t>
            </a:r>
            <a:r>
              <a:rPr sz="2800" b="0" spc="-9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techniques</a:t>
            </a:r>
            <a:r>
              <a:rPr sz="28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only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apply</a:t>
            </a:r>
            <a:r>
              <a:rPr sz="28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survey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data.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Logs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8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transactional</a:t>
            </a:r>
            <a:r>
              <a:rPr sz="2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data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2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subject</a:t>
            </a:r>
            <a:r>
              <a:rPr sz="2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these</a:t>
            </a:r>
            <a:r>
              <a:rPr sz="2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techniques.</a:t>
            </a:r>
            <a:endParaRPr sz="28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Validity</a:t>
            </a:r>
            <a:r>
              <a:rPr sz="2800" b="0" spc="-1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generally</a:t>
            </a:r>
            <a:r>
              <a:rPr sz="2800" b="0" spc="-1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comprises:</a:t>
            </a:r>
            <a:endParaRPr sz="2800">
              <a:latin typeface="Segoe UI Light"/>
              <a:cs typeface="Segoe UI Light"/>
            </a:endParaRPr>
          </a:p>
          <a:p>
            <a:pPr marL="812800" marR="43815" lvl="1" indent="-342900">
              <a:lnSpc>
                <a:spcPct val="100000"/>
              </a:lnSpc>
              <a:spcBef>
                <a:spcPts val="25"/>
              </a:spcBef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Face</a:t>
            </a:r>
            <a:r>
              <a:rPr sz="2000" b="0" spc="-9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validity. </a:t>
            </a:r>
            <a:r>
              <a:rPr sz="2000" b="0" spc="-16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extent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does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measure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is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supposed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measure.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If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my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about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use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Facebook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privacy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settings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there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questions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touch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topics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they</a:t>
            </a:r>
            <a:r>
              <a:rPr sz="20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lack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face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validity.</a:t>
            </a:r>
            <a:endParaRPr sz="2000">
              <a:latin typeface="Segoe UI Light"/>
              <a:cs typeface="Segoe UI Light"/>
            </a:endParaRPr>
          </a:p>
          <a:p>
            <a:pPr marL="812800" marR="508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Construct</a:t>
            </a:r>
            <a:r>
              <a:rPr sz="2000" b="0" spc="-4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validity.</a:t>
            </a:r>
            <a:r>
              <a:rPr sz="20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Do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questions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related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specific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concept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all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measure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concept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only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concept.</a:t>
            </a:r>
            <a:endParaRPr sz="2000">
              <a:latin typeface="Segoe UI Light"/>
              <a:cs typeface="Segoe UI Light"/>
            </a:endParaRPr>
          </a:p>
          <a:p>
            <a:pPr marL="1270000" lvl="2" indent="-342900">
              <a:lnSpc>
                <a:spcPct val="100000"/>
              </a:lnSpc>
              <a:buFont typeface="Arial"/>
              <a:buChar char="•"/>
              <a:tabLst>
                <a:tab pos="12700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Convergent</a:t>
            </a:r>
            <a:r>
              <a:rPr sz="20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validity.</a:t>
            </a:r>
            <a:endParaRPr sz="2000">
              <a:latin typeface="Segoe UI Light"/>
              <a:cs typeface="Segoe UI Light"/>
            </a:endParaRPr>
          </a:p>
          <a:p>
            <a:pPr marL="1270000" lvl="2" indent="-342900">
              <a:lnSpc>
                <a:spcPct val="100000"/>
              </a:lnSpc>
              <a:buFont typeface="Arial"/>
              <a:buChar char="•"/>
              <a:tabLst>
                <a:tab pos="127000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Discriminant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validity.</a:t>
            </a:r>
            <a:endParaRPr sz="200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Content</a:t>
            </a:r>
            <a:r>
              <a:rPr sz="2000" b="0" spc="-4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validity.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question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valid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from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domain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perspective</a:t>
            </a:r>
            <a:endParaRPr sz="20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pc="-50" dirty="0"/>
              <a:t>Techniques</a:t>
            </a:r>
            <a:r>
              <a:rPr spc="-60" dirty="0"/>
              <a:t> </a:t>
            </a:r>
            <a:r>
              <a:rPr dirty="0"/>
              <a:t>to</a:t>
            </a:r>
            <a:r>
              <a:rPr spc="-20" dirty="0"/>
              <a:t> </a:t>
            </a:r>
            <a:r>
              <a:rPr dirty="0"/>
              <a:t>verify</a:t>
            </a:r>
            <a:r>
              <a:rPr spc="-50" dirty="0"/>
              <a:t> </a:t>
            </a:r>
            <a:r>
              <a:rPr dirty="0"/>
              <a:t>the</a:t>
            </a:r>
            <a:r>
              <a:rPr spc="-40" dirty="0"/>
              <a:t> </a:t>
            </a:r>
            <a:r>
              <a:rPr dirty="0"/>
              <a:t>quality</a:t>
            </a:r>
            <a:r>
              <a:rPr spc="-50" dirty="0"/>
              <a:t> </a:t>
            </a:r>
            <a:r>
              <a:rPr dirty="0"/>
              <a:t>of</a:t>
            </a:r>
            <a:r>
              <a:rPr spc="-30" dirty="0"/>
              <a:t> </a:t>
            </a:r>
            <a:r>
              <a:rPr dirty="0"/>
              <a:t>survey</a:t>
            </a:r>
            <a:r>
              <a:rPr spc="-45" dirty="0"/>
              <a:t> </a:t>
            </a:r>
            <a:r>
              <a:rPr dirty="0"/>
              <a:t>data</a:t>
            </a:r>
            <a:r>
              <a:rPr spc="60" dirty="0"/>
              <a:t> </a:t>
            </a:r>
            <a:r>
              <a:rPr dirty="0"/>
              <a:t>–</a:t>
            </a:r>
            <a:r>
              <a:rPr spc="-20" dirty="0"/>
              <a:t> </a:t>
            </a:r>
            <a:r>
              <a:rPr spc="-10" dirty="0"/>
              <a:t>reliability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2110867" y="745363"/>
            <a:ext cx="7933690" cy="51193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8417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There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few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common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ways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ensure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reliability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of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survey</a:t>
            </a:r>
            <a:r>
              <a:rPr sz="2400" b="0" spc="1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data.</a:t>
            </a:r>
            <a:endParaRPr sz="24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20"/>
              </a:spcBef>
              <a:buClr>
                <a:srgbClr val="FFFFFF"/>
              </a:buClr>
              <a:buFont typeface="Arial"/>
              <a:buChar char="•"/>
            </a:pPr>
            <a:endParaRPr sz="2150" dirty="0">
              <a:latin typeface="Segoe UI Light"/>
              <a:cs typeface="Segoe UI Light"/>
            </a:endParaRPr>
          </a:p>
          <a:p>
            <a:pPr marL="355600" marR="264795" indent="-343535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Reliability</a:t>
            </a:r>
            <a:r>
              <a:rPr sz="2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measure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internal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consistency,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can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be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calculated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using:</a:t>
            </a:r>
            <a:endParaRPr sz="2400" dirty="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812800" algn="l"/>
              </a:tabLst>
            </a:pP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Cronbach’s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alpha.</a:t>
            </a:r>
            <a:endParaRPr sz="1800" dirty="0">
              <a:latin typeface="Segoe UI Light"/>
              <a:cs typeface="Segoe UI Light"/>
            </a:endParaRPr>
          </a:p>
          <a:p>
            <a:pPr marL="81280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Composite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reliability.</a:t>
            </a:r>
            <a:endParaRPr sz="1800" dirty="0">
              <a:latin typeface="Segoe UI Light"/>
              <a:cs typeface="Segoe UI Light"/>
            </a:endParaRPr>
          </a:p>
          <a:p>
            <a:pPr marL="355600" marR="5080" indent="-343535">
              <a:lnSpc>
                <a:spcPct val="100000"/>
              </a:lnSpc>
              <a:spcBef>
                <a:spcPts val="215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reliability</a:t>
            </a:r>
            <a:r>
              <a:rPr sz="24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other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datasets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such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as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transactional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logs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or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social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media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feeds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(amongst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others)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established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by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interrogating</a:t>
            </a:r>
            <a:r>
              <a:rPr sz="2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credibility</a:t>
            </a:r>
            <a:r>
              <a:rPr sz="2400" b="0" spc="-6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source.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may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agree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that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this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subjective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exercise,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requires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great care.</a:t>
            </a:r>
            <a:endParaRPr sz="2400" dirty="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4000" dirty="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865630">
              <a:lnSpc>
                <a:spcPct val="100000"/>
              </a:lnSpc>
              <a:spcBef>
                <a:spcPts val="95"/>
              </a:spcBef>
            </a:pPr>
            <a:r>
              <a:rPr dirty="0"/>
              <a:t>Data</a:t>
            </a:r>
            <a:r>
              <a:rPr spc="-70" dirty="0"/>
              <a:t> </a:t>
            </a:r>
            <a:r>
              <a:rPr dirty="0"/>
              <a:t>collection</a:t>
            </a:r>
            <a:r>
              <a:rPr spc="-45" dirty="0"/>
              <a:t> </a:t>
            </a:r>
            <a:r>
              <a:rPr dirty="0"/>
              <a:t>–</a:t>
            </a:r>
            <a:r>
              <a:rPr spc="-60" dirty="0"/>
              <a:t> </a:t>
            </a:r>
            <a:r>
              <a:rPr dirty="0"/>
              <a:t>my</a:t>
            </a:r>
            <a:r>
              <a:rPr spc="-50" dirty="0"/>
              <a:t> </a:t>
            </a:r>
            <a:r>
              <a:rPr dirty="0"/>
              <a:t>red</a:t>
            </a:r>
            <a:r>
              <a:rPr spc="-70" dirty="0"/>
              <a:t> </a:t>
            </a:r>
            <a:r>
              <a:rPr dirty="0"/>
              <a:t>flag</a:t>
            </a:r>
            <a:r>
              <a:rPr spc="-65" dirty="0"/>
              <a:t> </a:t>
            </a:r>
            <a:r>
              <a:rPr spc="-20" dirty="0"/>
              <a:t>list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2110867" y="745363"/>
            <a:ext cx="7950834" cy="46901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391795" indent="-343535">
              <a:lnSpc>
                <a:spcPct val="100000"/>
              </a:lnSpc>
              <a:spcBef>
                <a:spcPts val="100"/>
              </a:spcBef>
              <a:buFont typeface="Arial"/>
              <a:buChar char="•"/>
              <a:tabLst>
                <a:tab pos="355600" algn="l"/>
              </a:tabLst>
            </a:pP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Based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on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quantitative projects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worked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on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(mostly survey-based), I have</a:t>
            </a:r>
            <a:r>
              <a:rPr sz="2400" b="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compiled</a:t>
            </a:r>
            <a:r>
              <a:rPr sz="24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following</a:t>
            </a:r>
            <a:r>
              <a:rPr sz="24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list.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0" spc="-6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collection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process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4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crucial</a:t>
            </a:r>
            <a:r>
              <a:rPr sz="24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!</a:t>
            </a:r>
            <a:endParaRPr sz="2400">
              <a:latin typeface="Segoe UI Light"/>
              <a:cs typeface="Segoe UI Light"/>
            </a:endParaRPr>
          </a:p>
          <a:p>
            <a:pPr marL="812800" marR="113664" lvl="1" indent="-342900">
              <a:lnSpc>
                <a:spcPct val="100000"/>
              </a:lnSpc>
              <a:spcBef>
                <a:spcPts val="15"/>
              </a:spcBef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collect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determines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all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results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follow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thus</a:t>
            </a:r>
            <a:r>
              <a:rPr sz="18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make</a:t>
            </a:r>
            <a:r>
              <a:rPr sz="18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sure </a:t>
            </a:r>
            <a:r>
              <a:rPr sz="18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you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are</a:t>
            </a:r>
            <a:r>
              <a:rPr sz="1800" b="0" spc="-4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collecting</a:t>
            </a:r>
            <a:r>
              <a:rPr sz="18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data</a:t>
            </a:r>
            <a:r>
              <a:rPr sz="1800" b="0" spc="-3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from</a:t>
            </a:r>
            <a:r>
              <a:rPr sz="1800" b="0" spc="-3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00"/>
                </a:solidFill>
                <a:latin typeface="Segoe UI Light"/>
                <a:cs typeface="Segoe UI Light"/>
              </a:rPr>
              <a:t>reliable</a:t>
            </a:r>
            <a:r>
              <a:rPr sz="18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sources.</a:t>
            </a:r>
            <a:endParaRPr sz="1800">
              <a:latin typeface="Segoe UI Light"/>
              <a:cs typeface="Segoe UI Light"/>
            </a:endParaRPr>
          </a:p>
          <a:p>
            <a:pPr marL="812800" marR="5080" lvl="1" indent="-342900">
              <a:lnSpc>
                <a:spcPct val="100000"/>
              </a:lnSpc>
              <a:buFont typeface="Arial"/>
              <a:buChar char="•"/>
              <a:tabLst>
                <a:tab pos="812800" algn="l"/>
              </a:tabLst>
            </a:pPr>
            <a:r>
              <a:rPr sz="1800" b="0" spc="-75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 consult domain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experts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 validate that you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have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covered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core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aspects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area</a:t>
            </a:r>
            <a:r>
              <a:rPr sz="1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question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(i.e.,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information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privacy,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health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etc.).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This ties into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face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validity as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these experts will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 able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 tell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you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if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measuring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correct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phenomena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interest.</a:t>
            </a:r>
            <a:endParaRPr sz="1800">
              <a:latin typeface="Segoe UI Light"/>
              <a:cs typeface="Segoe UI Light"/>
            </a:endParaRPr>
          </a:p>
          <a:p>
            <a:pPr marL="355600" indent="-342900">
              <a:lnSpc>
                <a:spcPts val="287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may</a:t>
            </a:r>
            <a:r>
              <a:rPr sz="24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incentivise</a:t>
            </a:r>
            <a:endParaRPr sz="2400">
              <a:latin typeface="Segoe UI Light"/>
              <a:cs typeface="Segoe UI Light"/>
            </a:endParaRPr>
          </a:p>
          <a:p>
            <a:pPr marL="812800" marR="307340" lvl="1" indent="-342900">
              <a:lnSpc>
                <a:spcPct val="100000"/>
              </a:lnSpc>
              <a:spcBef>
                <a:spcPts val="10"/>
              </a:spcBef>
              <a:buFont typeface="Arial"/>
              <a:buChar char="•"/>
              <a:tabLst>
                <a:tab pos="812800" algn="l"/>
              </a:tabLst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has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become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commonplace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research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done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via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survey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panels,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1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recruit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respondents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fee.</a:t>
            </a:r>
            <a:endParaRPr sz="1800">
              <a:latin typeface="Segoe UI Light"/>
              <a:cs typeface="Segoe UI Light"/>
            </a:endParaRPr>
          </a:p>
          <a:p>
            <a:pPr marL="812800" lvl="1" indent="-342900">
              <a:lnSpc>
                <a:spcPts val="2155"/>
              </a:lnSpc>
              <a:buFont typeface="Arial"/>
              <a:buChar char="•"/>
              <a:tabLst>
                <a:tab pos="812800" algn="l"/>
              </a:tabLst>
            </a:pPr>
            <a:r>
              <a:rPr sz="1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get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pay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so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check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reliability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source.</a:t>
            </a:r>
            <a:endParaRPr sz="1800">
              <a:latin typeface="Segoe UI Light"/>
              <a:cs typeface="Segoe UI Light"/>
            </a:endParaRPr>
          </a:p>
          <a:p>
            <a:pPr marL="355600" indent="-342900">
              <a:lnSpc>
                <a:spcPts val="2875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Take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time and do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it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right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first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time 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!</a:t>
            </a:r>
            <a:endParaRPr sz="2400">
              <a:latin typeface="Segoe UI Light"/>
              <a:cs typeface="Segoe UI Light"/>
            </a:endParaRPr>
          </a:p>
          <a:p>
            <a:pPr marL="355600" indent="-342900">
              <a:lnSpc>
                <a:spcPct val="100000"/>
              </a:lnSpc>
              <a:buFont typeface="Arial"/>
              <a:buChar char="•"/>
              <a:tabLst>
                <a:tab pos="355600" algn="l"/>
              </a:tabLst>
            </a:pP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Trust</a:t>
            </a:r>
            <a:r>
              <a:rPr sz="24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instincts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during</a:t>
            </a:r>
            <a:r>
              <a:rPr sz="24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4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4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dirty="0">
                <a:solidFill>
                  <a:srgbClr val="FFFFFF"/>
                </a:solidFill>
                <a:latin typeface="Segoe UI Light"/>
                <a:cs typeface="Segoe UI Light"/>
              </a:rPr>
              <a:t>collection</a:t>
            </a:r>
            <a:r>
              <a:rPr sz="24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4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process.</a:t>
            </a:r>
            <a:endParaRPr sz="24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24965">
              <a:lnSpc>
                <a:spcPct val="100000"/>
              </a:lnSpc>
              <a:spcBef>
                <a:spcPts val="95"/>
              </a:spcBef>
            </a:pPr>
            <a:r>
              <a:rPr dirty="0"/>
              <a:t>Our</a:t>
            </a:r>
            <a:r>
              <a:rPr spc="-60" dirty="0"/>
              <a:t> </a:t>
            </a:r>
            <a:r>
              <a:rPr dirty="0"/>
              <a:t>adapted</a:t>
            </a:r>
            <a:r>
              <a:rPr spc="-65" dirty="0"/>
              <a:t> </a:t>
            </a:r>
            <a:r>
              <a:rPr spc="-10" dirty="0"/>
              <a:t>CRISP-</a:t>
            </a:r>
            <a:r>
              <a:rPr dirty="0"/>
              <a:t>DM</a:t>
            </a:r>
            <a:r>
              <a:rPr spc="-75" dirty="0"/>
              <a:t> </a:t>
            </a:r>
            <a:r>
              <a:rPr spc="-10" dirty="0"/>
              <a:t>framework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394461" y="962913"/>
            <a:ext cx="2804795" cy="863600"/>
            <a:chOff x="394461" y="962913"/>
            <a:chExt cx="2804795" cy="863600"/>
          </a:xfrm>
        </p:grpSpPr>
        <p:sp>
          <p:nvSpPr>
            <p:cNvPr id="5" name="object 5"/>
            <p:cNvSpPr/>
            <p:nvPr/>
          </p:nvSpPr>
          <p:spPr>
            <a:xfrm>
              <a:off x="423671" y="992123"/>
              <a:ext cx="2746375" cy="805180"/>
            </a:xfrm>
            <a:custGeom>
              <a:avLst/>
              <a:gdLst/>
              <a:ahLst/>
              <a:cxnLst/>
              <a:rect l="l" t="t" r="r" b="b"/>
              <a:pathLst>
                <a:path w="2746375" h="805180">
                  <a:moveTo>
                    <a:pt x="2612136" y="0"/>
                  </a:moveTo>
                  <a:lnTo>
                    <a:pt x="134112" y="0"/>
                  </a:lnTo>
                  <a:lnTo>
                    <a:pt x="91722" y="6839"/>
                  </a:lnTo>
                  <a:lnTo>
                    <a:pt x="54907" y="25883"/>
                  </a:lnTo>
                  <a:lnTo>
                    <a:pt x="25876" y="54918"/>
                  </a:lnTo>
                  <a:lnTo>
                    <a:pt x="6837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7" y="712939"/>
                  </a:lnTo>
                  <a:lnTo>
                    <a:pt x="25876" y="749753"/>
                  </a:lnTo>
                  <a:lnTo>
                    <a:pt x="54907" y="778788"/>
                  </a:lnTo>
                  <a:lnTo>
                    <a:pt x="91722" y="797832"/>
                  </a:lnTo>
                  <a:lnTo>
                    <a:pt x="134112" y="804672"/>
                  </a:lnTo>
                  <a:lnTo>
                    <a:pt x="2612136" y="804672"/>
                  </a:lnTo>
                  <a:lnTo>
                    <a:pt x="2654515" y="797832"/>
                  </a:lnTo>
                  <a:lnTo>
                    <a:pt x="2691329" y="778788"/>
                  </a:lnTo>
                  <a:lnTo>
                    <a:pt x="2720364" y="749753"/>
                  </a:lnTo>
                  <a:lnTo>
                    <a:pt x="2739408" y="712939"/>
                  </a:lnTo>
                  <a:lnTo>
                    <a:pt x="2746248" y="670560"/>
                  </a:lnTo>
                  <a:lnTo>
                    <a:pt x="2746248" y="134112"/>
                  </a:lnTo>
                  <a:lnTo>
                    <a:pt x="2739408" y="91732"/>
                  </a:lnTo>
                  <a:lnTo>
                    <a:pt x="2720364" y="54918"/>
                  </a:lnTo>
                  <a:lnTo>
                    <a:pt x="2691329" y="25883"/>
                  </a:lnTo>
                  <a:lnTo>
                    <a:pt x="2654515" y="6839"/>
                  </a:lnTo>
                  <a:lnTo>
                    <a:pt x="2612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423671" y="992123"/>
              <a:ext cx="2746375" cy="805180"/>
            </a:xfrm>
            <a:custGeom>
              <a:avLst/>
              <a:gdLst/>
              <a:ahLst/>
              <a:cxnLst/>
              <a:rect l="l" t="t" r="r" b="b"/>
              <a:pathLst>
                <a:path w="2746375" h="805180">
                  <a:moveTo>
                    <a:pt x="0" y="134112"/>
                  </a:moveTo>
                  <a:lnTo>
                    <a:pt x="6837" y="91732"/>
                  </a:lnTo>
                  <a:lnTo>
                    <a:pt x="25876" y="54918"/>
                  </a:lnTo>
                  <a:lnTo>
                    <a:pt x="54907" y="25883"/>
                  </a:lnTo>
                  <a:lnTo>
                    <a:pt x="91722" y="6839"/>
                  </a:lnTo>
                  <a:lnTo>
                    <a:pt x="134112" y="0"/>
                  </a:lnTo>
                  <a:lnTo>
                    <a:pt x="2612136" y="0"/>
                  </a:lnTo>
                  <a:lnTo>
                    <a:pt x="2654515" y="6839"/>
                  </a:lnTo>
                  <a:lnTo>
                    <a:pt x="2691329" y="25883"/>
                  </a:lnTo>
                  <a:lnTo>
                    <a:pt x="2720364" y="54918"/>
                  </a:lnTo>
                  <a:lnTo>
                    <a:pt x="2739408" y="91732"/>
                  </a:lnTo>
                  <a:lnTo>
                    <a:pt x="2746248" y="134112"/>
                  </a:lnTo>
                  <a:lnTo>
                    <a:pt x="2746248" y="670560"/>
                  </a:lnTo>
                  <a:lnTo>
                    <a:pt x="2739408" y="712939"/>
                  </a:lnTo>
                  <a:lnTo>
                    <a:pt x="2720364" y="749753"/>
                  </a:lnTo>
                  <a:lnTo>
                    <a:pt x="2691329" y="778788"/>
                  </a:lnTo>
                  <a:lnTo>
                    <a:pt x="2654515" y="797832"/>
                  </a:lnTo>
                  <a:lnTo>
                    <a:pt x="2612136" y="804672"/>
                  </a:lnTo>
                  <a:lnTo>
                    <a:pt x="134112" y="804672"/>
                  </a:lnTo>
                  <a:lnTo>
                    <a:pt x="91722" y="797832"/>
                  </a:lnTo>
                  <a:lnTo>
                    <a:pt x="54907" y="778788"/>
                  </a:lnTo>
                  <a:lnTo>
                    <a:pt x="25876" y="749753"/>
                  </a:lnTo>
                  <a:lnTo>
                    <a:pt x="6837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559714" y="1069339"/>
            <a:ext cx="247205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58190" marR="5080" indent="-746125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1.)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business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context </a:t>
            </a:r>
            <a:r>
              <a:rPr sz="20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?</a:t>
            </a:r>
            <a:endParaRPr sz="2000">
              <a:latin typeface="Segoe UI Light"/>
              <a:cs typeface="Segoe UI Light"/>
            </a:endParaRPr>
          </a:p>
        </p:txBody>
      </p:sp>
      <p:grpSp>
        <p:nvGrpSpPr>
          <p:cNvPr id="8" name="object 8"/>
          <p:cNvGrpSpPr/>
          <p:nvPr/>
        </p:nvGrpSpPr>
        <p:grpSpPr>
          <a:xfrm>
            <a:off x="4554982" y="690118"/>
            <a:ext cx="3082290" cy="627380"/>
            <a:chOff x="4554982" y="690118"/>
            <a:chExt cx="3082290" cy="627380"/>
          </a:xfrm>
        </p:grpSpPr>
        <p:sp>
          <p:nvSpPr>
            <p:cNvPr id="9" name="object 9"/>
            <p:cNvSpPr/>
            <p:nvPr/>
          </p:nvSpPr>
          <p:spPr>
            <a:xfrm>
              <a:off x="4584192" y="719328"/>
              <a:ext cx="3023870" cy="568960"/>
            </a:xfrm>
            <a:custGeom>
              <a:avLst/>
              <a:gdLst/>
              <a:ahLst/>
              <a:cxnLst/>
              <a:rect l="l" t="t" r="r" b="b"/>
              <a:pathLst>
                <a:path w="3023870" h="568960">
                  <a:moveTo>
                    <a:pt x="2928874" y="0"/>
                  </a:moveTo>
                  <a:lnTo>
                    <a:pt x="94742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2"/>
                  </a:lnTo>
                  <a:lnTo>
                    <a:pt x="0" y="473710"/>
                  </a:lnTo>
                  <a:lnTo>
                    <a:pt x="7445" y="510587"/>
                  </a:lnTo>
                  <a:lnTo>
                    <a:pt x="27749" y="540702"/>
                  </a:lnTo>
                  <a:lnTo>
                    <a:pt x="57864" y="561006"/>
                  </a:lnTo>
                  <a:lnTo>
                    <a:pt x="94742" y="568451"/>
                  </a:lnTo>
                  <a:lnTo>
                    <a:pt x="2928874" y="568451"/>
                  </a:lnTo>
                  <a:lnTo>
                    <a:pt x="2965751" y="561006"/>
                  </a:lnTo>
                  <a:lnTo>
                    <a:pt x="2995866" y="540702"/>
                  </a:lnTo>
                  <a:lnTo>
                    <a:pt x="3016170" y="510587"/>
                  </a:lnTo>
                  <a:lnTo>
                    <a:pt x="3023616" y="473710"/>
                  </a:lnTo>
                  <a:lnTo>
                    <a:pt x="3023616" y="94742"/>
                  </a:lnTo>
                  <a:lnTo>
                    <a:pt x="3016170" y="57864"/>
                  </a:lnTo>
                  <a:lnTo>
                    <a:pt x="2995866" y="27749"/>
                  </a:lnTo>
                  <a:lnTo>
                    <a:pt x="2965751" y="7445"/>
                  </a:lnTo>
                  <a:lnTo>
                    <a:pt x="2928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584192" y="719328"/>
              <a:ext cx="3023870" cy="568960"/>
            </a:xfrm>
            <a:custGeom>
              <a:avLst/>
              <a:gdLst/>
              <a:ahLst/>
              <a:cxnLst/>
              <a:rect l="l" t="t" r="r" b="b"/>
              <a:pathLst>
                <a:path w="3023870" h="568960">
                  <a:moveTo>
                    <a:pt x="0" y="94742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2" y="0"/>
                  </a:lnTo>
                  <a:lnTo>
                    <a:pt x="2928874" y="0"/>
                  </a:lnTo>
                  <a:lnTo>
                    <a:pt x="2965751" y="7445"/>
                  </a:lnTo>
                  <a:lnTo>
                    <a:pt x="2995866" y="27749"/>
                  </a:lnTo>
                  <a:lnTo>
                    <a:pt x="3016170" y="57864"/>
                  </a:lnTo>
                  <a:lnTo>
                    <a:pt x="3023616" y="94742"/>
                  </a:lnTo>
                  <a:lnTo>
                    <a:pt x="3023616" y="473710"/>
                  </a:lnTo>
                  <a:lnTo>
                    <a:pt x="3016170" y="510587"/>
                  </a:lnTo>
                  <a:lnTo>
                    <a:pt x="2995866" y="540702"/>
                  </a:lnTo>
                  <a:lnTo>
                    <a:pt x="2965751" y="561006"/>
                  </a:lnTo>
                  <a:lnTo>
                    <a:pt x="2928874" y="568451"/>
                  </a:lnTo>
                  <a:lnTo>
                    <a:pt x="94742" y="568451"/>
                  </a:lnTo>
                  <a:lnTo>
                    <a:pt x="57864" y="561006"/>
                  </a:lnTo>
                  <a:lnTo>
                    <a:pt x="27749" y="540702"/>
                  </a:lnTo>
                  <a:lnTo>
                    <a:pt x="7445" y="510587"/>
                  </a:lnTo>
                  <a:lnTo>
                    <a:pt x="0" y="473710"/>
                  </a:lnTo>
                  <a:lnTo>
                    <a:pt x="0" y="94742"/>
                  </a:lnTo>
                  <a:close/>
                </a:path>
              </a:pathLst>
            </a:custGeom>
            <a:ln w="5791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/>
          <p:nvPr/>
        </p:nvSpPr>
        <p:spPr>
          <a:xfrm>
            <a:off x="4961382" y="848105"/>
            <a:ext cx="226758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1.1)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Business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objectives?</a:t>
            </a:r>
            <a:endParaRPr sz="1800">
              <a:latin typeface="Segoe UI Light"/>
              <a:cs typeface="Segoe UI Light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4554982" y="1494789"/>
            <a:ext cx="3082290" cy="627380"/>
            <a:chOff x="4554982" y="1494789"/>
            <a:chExt cx="3082290" cy="627380"/>
          </a:xfrm>
        </p:grpSpPr>
        <p:sp>
          <p:nvSpPr>
            <p:cNvPr id="13" name="object 13"/>
            <p:cNvSpPr/>
            <p:nvPr/>
          </p:nvSpPr>
          <p:spPr>
            <a:xfrm>
              <a:off x="4584192" y="1523999"/>
              <a:ext cx="3023870" cy="568960"/>
            </a:xfrm>
            <a:custGeom>
              <a:avLst/>
              <a:gdLst/>
              <a:ahLst/>
              <a:cxnLst/>
              <a:rect l="l" t="t" r="r" b="b"/>
              <a:pathLst>
                <a:path w="3023870" h="568960">
                  <a:moveTo>
                    <a:pt x="2928874" y="0"/>
                  </a:moveTo>
                  <a:lnTo>
                    <a:pt x="94742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1"/>
                  </a:lnTo>
                  <a:lnTo>
                    <a:pt x="0" y="473710"/>
                  </a:lnTo>
                  <a:lnTo>
                    <a:pt x="7445" y="510587"/>
                  </a:lnTo>
                  <a:lnTo>
                    <a:pt x="27749" y="540702"/>
                  </a:lnTo>
                  <a:lnTo>
                    <a:pt x="57864" y="561006"/>
                  </a:lnTo>
                  <a:lnTo>
                    <a:pt x="94742" y="568451"/>
                  </a:lnTo>
                  <a:lnTo>
                    <a:pt x="2928874" y="568451"/>
                  </a:lnTo>
                  <a:lnTo>
                    <a:pt x="2965751" y="561006"/>
                  </a:lnTo>
                  <a:lnTo>
                    <a:pt x="2995866" y="540702"/>
                  </a:lnTo>
                  <a:lnTo>
                    <a:pt x="3016170" y="510587"/>
                  </a:lnTo>
                  <a:lnTo>
                    <a:pt x="3023616" y="473710"/>
                  </a:lnTo>
                  <a:lnTo>
                    <a:pt x="3023616" y="94741"/>
                  </a:lnTo>
                  <a:lnTo>
                    <a:pt x="3016170" y="57864"/>
                  </a:lnTo>
                  <a:lnTo>
                    <a:pt x="2995866" y="27749"/>
                  </a:lnTo>
                  <a:lnTo>
                    <a:pt x="2965751" y="7445"/>
                  </a:lnTo>
                  <a:lnTo>
                    <a:pt x="2928874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4584192" y="1523999"/>
              <a:ext cx="3023870" cy="568960"/>
            </a:xfrm>
            <a:custGeom>
              <a:avLst/>
              <a:gdLst/>
              <a:ahLst/>
              <a:cxnLst/>
              <a:rect l="l" t="t" r="r" b="b"/>
              <a:pathLst>
                <a:path w="3023870" h="568960">
                  <a:moveTo>
                    <a:pt x="0" y="94741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2" y="0"/>
                  </a:lnTo>
                  <a:lnTo>
                    <a:pt x="2928874" y="0"/>
                  </a:lnTo>
                  <a:lnTo>
                    <a:pt x="2965751" y="7445"/>
                  </a:lnTo>
                  <a:lnTo>
                    <a:pt x="2995866" y="27749"/>
                  </a:lnTo>
                  <a:lnTo>
                    <a:pt x="3016170" y="57864"/>
                  </a:lnTo>
                  <a:lnTo>
                    <a:pt x="3023616" y="94741"/>
                  </a:lnTo>
                  <a:lnTo>
                    <a:pt x="3023616" y="473710"/>
                  </a:lnTo>
                  <a:lnTo>
                    <a:pt x="3016170" y="510587"/>
                  </a:lnTo>
                  <a:lnTo>
                    <a:pt x="2995866" y="540702"/>
                  </a:lnTo>
                  <a:lnTo>
                    <a:pt x="2965751" y="561006"/>
                  </a:lnTo>
                  <a:lnTo>
                    <a:pt x="2928874" y="568451"/>
                  </a:lnTo>
                  <a:lnTo>
                    <a:pt x="94742" y="568451"/>
                  </a:lnTo>
                  <a:lnTo>
                    <a:pt x="57864" y="561006"/>
                  </a:lnTo>
                  <a:lnTo>
                    <a:pt x="27749" y="540702"/>
                  </a:lnTo>
                  <a:lnTo>
                    <a:pt x="7445" y="510587"/>
                  </a:lnTo>
                  <a:lnTo>
                    <a:pt x="0" y="473710"/>
                  </a:lnTo>
                  <a:lnTo>
                    <a:pt x="0" y="94741"/>
                  </a:lnTo>
                  <a:close/>
                </a:path>
              </a:pathLst>
            </a:custGeom>
            <a:ln w="5791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/>
          <p:nvPr/>
        </p:nvSpPr>
        <p:spPr>
          <a:xfrm>
            <a:off x="5023865" y="1514932"/>
            <a:ext cx="214503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1.2)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Define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managerial</a:t>
            </a:r>
            <a:endParaRPr sz="18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success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criteria</a:t>
            </a:r>
            <a:endParaRPr sz="1800">
              <a:latin typeface="Segoe UI Light"/>
              <a:cs typeface="Segoe UI Light"/>
            </a:endParaRPr>
          </a:p>
        </p:txBody>
      </p:sp>
      <p:grpSp>
        <p:nvGrpSpPr>
          <p:cNvPr id="16" name="object 16"/>
          <p:cNvGrpSpPr/>
          <p:nvPr/>
        </p:nvGrpSpPr>
        <p:grpSpPr>
          <a:xfrm>
            <a:off x="8619490" y="677926"/>
            <a:ext cx="3082290" cy="1431925"/>
            <a:chOff x="8619490" y="677926"/>
            <a:chExt cx="3082290" cy="1431925"/>
          </a:xfrm>
        </p:grpSpPr>
        <p:sp>
          <p:nvSpPr>
            <p:cNvPr id="17" name="object 17"/>
            <p:cNvSpPr/>
            <p:nvPr/>
          </p:nvSpPr>
          <p:spPr>
            <a:xfrm>
              <a:off x="8648700" y="707136"/>
              <a:ext cx="3023870" cy="1373505"/>
            </a:xfrm>
            <a:custGeom>
              <a:avLst/>
              <a:gdLst/>
              <a:ahLst/>
              <a:cxnLst/>
              <a:rect l="l" t="t" r="r" b="b"/>
              <a:pathLst>
                <a:path w="3023870" h="1373505">
                  <a:moveTo>
                    <a:pt x="2794761" y="0"/>
                  </a:moveTo>
                  <a:lnTo>
                    <a:pt x="228853" y="0"/>
                  </a:lnTo>
                  <a:lnTo>
                    <a:pt x="182739" y="4650"/>
                  </a:lnTo>
                  <a:lnTo>
                    <a:pt x="139785" y="17988"/>
                  </a:lnTo>
                  <a:lnTo>
                    <a:pt x="100911" y="39091"/>
                  </a:lnTo>
                  <a:lnTo>
                    <a:pt x="67040" y="67040"/>
                  </a:lnTo>
                  <a:lnTo>
                    <a:pt x="39091" y="100911"/>
                  </a:lnTo>
                  <a:lnTo>
                    <a:pt x="17988" y="139785"/>
                  </a:lnTo>
                  <a:lnTo>
                    <a:pt x="4650" y="182739"/>
                  </a:lnTo>
                  <a:lnTo>
                    <a:pt x="0" y="228853"/>
                  </a:lnTo>
                  <a:lnTo>
                    <a:pt x="0" y="1144269"/>
                  </a:lnTo>
                  <a:lnTo>
                    <a:pt x="4650" y="1190384"/>
                  </a:lnTo>
                  <a:lnTo>
                    <a:pt x="17988" y="1233338"/>
                  </a:lnTo>
                  <a:lnTo>
                    <a:pt x="39091" y="1272212"/>
                  </a:lnTo>
                  <a:lnTo>
                    <a:pt x="67040" y="1306083"/>
                  </a:lnTo>
                  <a:lnTo>
                    <a:pt x="100911" y="1334032"/>
                  </a:lnTo>
                  <a:lnTo>
                    <a:pt x="139785" y="1355135"/>
                  </a:lnTo>
                  <a:lnTo>
                    <a:pt x="182739" y="1368473"/>
                  </a:lnTo>
                  <a:lnTo>
                    <a:pt x="228853" y="1373124"/>
                  </a:lnTo>
                  <a:lnTo>
                    <a:pt x="2794761" y="1373124"/>
                  </a:lnTo>
                  <a:lnTo>
                    <a:pt x="2840876" y="1368473"/>
                  </a:lnTo>
                  <a:lnTo>
                    <a:pt x="2883830" y="1355135"/>
                  </a:lnTo>
                  <a:lnTo>
                    <a:pt x="2922704" y="1334032"/>
                  </a:lnTo>
                  <a:lnTo>
                    <a:pt x="2956575" y="1306083"/>
                  </a:lnTo>
                  <a:lnTo>
                    <a:pt x="2984524" y="1272212"/>
                  </a:lnTo>
                  <a:lnTo>
                    <a:pt x="3005627" y="1233338"/>
                  </a:lnTo>
                  <a:lnTo>
                    <a:pt x="3018965" y="1190384"/>
                  </a:lnTo>
                  <a:lnTo>
                    <a:pt x="3023616" y="1144269"/>
                  </a:lnTo>
                  <a:lnTo>
                    <a:pt x="3023616" y="228853"/>
                  </a:lnTo>
                  <a:lnTo>
                    <a:pt x="3018965" y="182739"/>
                  </a:lnTo>
                  <a:lnTo>
                    <a:pt x="3005627" y="139785"/>
                  </a:lnTo>
                  <a:lnTo>
                    <a:pt x="2984524" y="100911"/>
                  </a:lnTo>
                  <a:lnTo>
                    <a:pt x="2956575" y="67040"/>
                  </a:lnTo>
                  <a:lnTo>
                    <a:pt x="2922704" y="39091"/>
                  </a:lnTo>
                  <a:lnTo>
                    <a:pt x="2883830" y="17988"/>
                  </a:lnTo>
                  <a:lnTo>
                    <a:pt x="2840876" y="4650"/>
                  </a:lnTo>
                  <a:lnTo>
                    <a:pt x="2794761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8" name="object 18"/>
            <p:cNvSpPr/>
            <p:nvPr/>
          </p:nvSpPr>
          <p:spPr>
            <a:xfrm>
              <a:off x="8648700" y="707136"/>
              <a:ext cx="3023870" cy="1373505"/>
            </a:xfrm>
            <a:custGeom>
              <a:avLst/>
              <a:gdLst/>
              <a:ahLst/>
              <a:cxnLst/>
              <a:rect l="l" t="t" r="r" b="b"/>
              <a:pathLst>
                <a:path w="3023870" h="1373505">
                  <a:moveTo>
                    <a:pt x="0" y="228853"/>
                  </a:moveTo>
                  <a:lnTo>
                    <a:pt x="4650" y="182739"/>
                  </a:lnTo>
                  <a:lnTo>
                    <a:pt x="17988" y="139785"/>
                  </a:lnTo>
                  <a:lnTo>
                    <a:pt x="39091" y="100911"/>
                  </a:lnTo>
                  <a:lnTo>
                    <a:pt x="67040" y="67040"/>
                  </a:lnTo>
                  <a:lnTo>
                    <a:pt x="100911" y="39091"/>
                  </a:lnTo>
                  <a:lnTo>
                    <a:pt x="139785" y="17988"/>
                  </a:lnTo>
                  <a:lnTo>
                    <a:pt x="182739" y="4650"/>
                  </a:lnTo>
                  <a:lnTo>
                    <a:pt x="228853" y="0"/>
                  </a:lnTo>
                  <a:lnTo>
                    <a:pt x="2794761" y="0"/>
                  </a:lnTo>
                  <a:lnTo>
                    <a:pt x="2840876" y="4650"/>
                  </a:lnTo>
                  <a:lnTo>
                    <a:pt x="2883830" y="17988"/>
                  </a:lnTo>
                  <a:lnTo>
                    <a:pt x="2922704" y="39091"/>
                  </a:lnTo>
                  <a:lnTo>
                    <a:pt x="2956575" y="67040"/>
                  </a:lnTo>
                  <a:lnTo>
                    <a:pt x="2984524" y="100911"/>
                  </a:lnTo>
                  <a:lnTo>
                    <a:pt x="3005627" y="139785"/>
                  </a:lnTo>
                  <a:lnTo>
                    <a:pt x="3018965" y="182739"/>
                  </a:lnTo>
                  <a:lnTo>
                    <a:pt x="3023616" y="228853"/>
                  </a:lnTo>
                  <a:lnTo>
                    <a:pt x="3023616" y="1144269"/>
                  </a:lnTo>
                  <a:lnTo>
                    <a:pt x="3018965" y="1190384"/>
                  </a:lnTo>
                  <a:lnTo>
                    <a:pt x="3005627" y="1233338"/>
                  </a:lnTo>
                  <a:lnTo>
                    <a:pt x="2984524" y="1272212"/>
                  </a:lnTo>
                  <a:lnTo>
                    <a:pt x="2956575" y="1306083"/>
                  </a:lnTo>
                  <a:lnTo>
                    <a:pt x="2922704" y="1334032"/>
                  </a:lnTo>
                  <a:lnTo>
                    <a:pt x="2883830" y="1355135"/>
                  </a:lnTo>
                  <a:lnTo>
                    <a:pt x="2840876" y="1368473"/>
                  </a:lnTo>
                  <a:lnTo>
                    <a:pt x="2794761" y="1373124"/>
                  </a:lnTo>
                  <a:lnTo>
                    <a:pt x="228853" y="1373124"/>
                  </a:lnTo>
                  <a:lnTo>
                    <a:pt x="182739" y="1368473"/>
                  </a:lnTo>
                  <a:lnTo>
                    <a:pt x="139785" y="1355135"/>
                  </a:lnTo>
                  <a:lnTo>
                    <a:pt x="100911" y="1334032"/>
                  </a:lnTo>
                  <a:lnTo>
                    <a:pt x="67040" y="1306083"/>
                  </a:lnTo>
                  <a:lnTo>
                    <a:pt x="39091" y="1272212"/>
                  </a:lnTo>
                  <a:lnTo>
                    <a:pt x="17988" y="1233338"/>
                  </a:lnTo>
                  <a:lnTo>
                    <a:pt x="4650" y="1190384"/>
                  </a:lnTo>
                  <a:lnTo>
                    <a:pt x="0" y="1144269"/>
                  </a:lnTo>
                  <a:lnTo>
                    <a:pt x="0" y="228853"/>
                  </a:lnTo>
                  <a:close/>
                </a:path>
              </a:pathLst>
            </a:custGeom>
            <a:ln w="5791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object 19"/>
          <p:cNvSpPr txBox="1"/>
          <p:nvPr/>
        </p:nvSpPr>
        <p:spPr>
          <a:xfrm>
            <a:off x="8856726" y="827023"/>
            <a:ext cx="260667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58495" marR="5080" indent="-64643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1.3)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Detailed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assessment </a:t>
            </a:r>
            <a:r>
              <a:rPr sz="1800" b="0" spc="-85" dirty="0">
                <a:solidFill>
                  <a:srgbClr val="FFFFFF"/>
                </a:solidFill>
                <a:latin typeface="Segoe UI Light"/>
                <a:cs typeface="Segoe UI Light"/>
              </a:rPr>
              <a:t>of,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possible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risks,</a:t>
            </a:r>
            <a:endParaRPr sz="1800">
              <a:latin typeface="Segoe UI Light"/>
              <a:cs typeface="Segoe UI Light"/>
            </a:endParaRPr>
          </a:p>
          <a:p>
            <a:pPr marL="958850" marR="259079" indent="-692150">
              <a:lnSpc>
                <a:spcPct val="100000"/>
              </a:lnSpc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constraints/limits,</a:t>
            </a:r>
            <a:r>
              <a:rPr sz="18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and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budget</a:t>
            </a:r>
            <a:endParaRPr sz="1800">
              <a:latin typeface="Segoe UI Light"/>
              <a:cs typeface="Segoe UI Light"/>
            </a:endParaRPr>
          </a:p>
        </p:txBody>
      </p:sp>
      <p:grpSp>
        <p:nvGrpSpPr>
          <p:cNvPr id="20" name="object 20"/>
          <p:cNvGrpSpPr/>
          <p:nvPr/>
        </p:nvGrpSpPr>
        <p:grpSpPr>
          <a:xfrm>
            <a:off x="394461" y="2718561"/>
            <a:ext cx="2804795" cy="861694"/>
            <a:chOff x="394461" y="2718561"/>
            <a:chExt cx="2804795" cy="861694"/>
          </a:xfrm>
        </p:grpSpPr>
        <p:sp>
          <p:nvSpPr>
            <p:cNvPr id="21" name="object 21"/>
            <p:cNvSpPr/>
            <p:nvPr/>
          </p:nvSpPr>
          <p:spPr>
            <a:xfrm>
              <a:off x="423671" y="2747771"/>
              <a:ext cx="2746375" cy="803275"/>
            </a:xfrm>
            <a:custGeom>
              <a:avLst/>
              <a:gdLst/>
              <a:ahLst/>
              <a:cxnLst/>
              <a:rect l="l" t="t" r="r" b="b"/>
              <a:pathLst>
                <a:path w="2746375" h="803275">
                  <a:moveTo>
                    <a:pt x="2612390" y="0"/>
                  </a:moveTo>
                  <a:lnTo>
                    <a:pt x="133858" y="0"/>
                  </a:lnTo>
                  <a:lnTo>
                    <a:pt x="91548" y="6825"/>
                  </a:lnTo>
                  <a:lnTo>
                    <a:pt x="54803" y="25830"/>
                  </a:lnTo>
                  <a:lnTo>
                    <a:pt x="25827" y="54809"/>
                  </a:lnTo>
                  <a:lnTo>
                    <a:pt x="6824" y="91553"/>
                  </a:lnTo>
                  <a:lnTo>
                    <a:pt x="0" y="133857"/>
                  </a:lnTo>
                  <a:lnTo>
                    <a:pt x="0" y="669289"/>
                  </a:lnTo>
                  <a:lnTo>
                    <a:pt x="6824" y="711594"/>
                  </a:lnTo>
                  <a:lnTo>
                    <a:pt x="25827" y="748338"/>
                  </a:lnTo>
                  <a:lnTo>
                    <a:pt x="54803" y="777317"/>
                  </a:lnTo>
                  <a:lnTo>
                    <a:pt x="91548" y="796322"/>
                  </a:lnTo>
                  <a:lnTo>
                    <a:pt x="133858" y="803148"/>
                  </a:lnTo>
                  <a:lnTo>
                    <a:pt x="2612390" y="803148"/>
                  </a:lnTo>
                  <a:lnTo>
                    <a:pt x="2654694" y="796322"/>
                  </a:lnTo>
                  <a:lnTo>
                    <a:pt x="2691438" y="777317"/>
                  </a:lnTo>
                  <a:lnTo>
                    <a:pt x="2720417" y="748338"/>
                  </a:lnTo>
                  <a:lnTo>
                    <a:pt x="2739422" y="711594"/>
                  </a:lnTo>
                  <a:lnTo>
                    <a:pt x="2746248" y="669289"/>
                  </a:lnTo>
                  <a:lnTo>
                    <a:pt x="2746248" y="133857"/>
                  </a:lnTo>
                  <a:lnTo>
                    <a:pt x="2739422" y="91553"/>
                  </a:lnTo>
                  <a:lnTo>
                    <a:pt x="2720417" y="54809"/>
                  </a:lnTo>
                  <a:lnTo>
                    <a:pt x="2691438" y="25830"/>
                  </a:lnTo>
                  <a:lnTo>
                    <a:pt x="2654694" y="6825"/>
                  </a:lnTo>
                  <a:lnTo>
                    <a:pt x="261239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2" name="object 22"/>
            <p:cNvSpPr/>
            <p:nvPr/>
          </p:nvSpPr>
          <p:spPr>
            <a:xfrm>
              <a:off x="423671" y="2747771"/>
              <a:ext cx="2746375" cy="803275"/>
            </a:xfrm>
            <a:custGeom>
              <a:avLst/>
              <a:gdLst/>
              <a:ahLst/>
              <a:cxnLst/>
              <a:rect l="l" t="t" r="r" b="b"/>
              <a:pathLst>
                <a:path w="2746375" h="803275">
                  <a:moveTo>
                    <a:pt x="0" y="133857"/>
                  </a:moveTo>
                  <a:lnTo>
                    <a:pt x="6824" y="91553"/>
                  </a:lnTo>
                  <a:lnTo>
                    <a:pt x="25827" y="54809"/>
                  </a:lnTo>
                  <a:lnTo>
                    <a:pt x="54803" y="25830"/>
                  </a:lnTo>
                  <a:lnTo>
                    <a:pt x="91548" y="6825"/>
                  </a:lnTo>
                  <a:lnTo>
                    <a:pt x="133858" y="0"/>
                  </a:lnTo>
                  <a:lnTo>
                    <a:pt x="2612390" y="0"/>
                  </a:lnTo>
                  <a:lnTo>
                    <a:pt x="2654694" y="6825"/>
                  </a:lnTo>
                  <a:lnTo>
                    <a:pt x="2691438" y="25830"/>
                  </a:lnTo>
                  <a:lnTo>
                    <a:pt x="2720417" y="54809"/>
                  </a:lnTo>
                  <a:lnTo>
                    <a:pt x="2739422" y="91553"/>
                  </a:lnTo>
                  <a:lnTo>
                    <a:pt x="2746248" y="133857"/>
                  </a:lnTo>
                  <a:lnTo>
                    <a:pt x="2746248" y="669289"/>
                  </a:lnTo>
                  <a:lnTo>
                    <a:pt x="2739422" y="711594"/>
                  </a:lnTo>
                  <a:lnTo>
                    <a:pt x="2720417" y="748338"/>
                  </a:lnTo>
                  <a:lnTo>
                    <a:pt x="2691438" y="777317"/>
                  </a:lnTo>
                  <a:lnTo>
                    <a:pt x="2654694" y="796322"/>
                  </a:lnTo>
                  <a:lnTo>
                    <a:pt x="2612390" y="803148"/>
                  </a:lnTo>
                  <a:lnTo>
                    <a:pt x="133858" y="803148"/>
                  </a:lnTo>
                  <a:lnTo>
                    <a:pt x="91548" y="796322"/>
                  </a:lnTo>
                  <a:lnTo>
                    <a:pt x="54803" y="777317"/>
                  </a:lnTo>
                  <a:lnTo>
                    <a:pt x="25827" y="748338"/>
                  </a:lnTo>
                  <a:lnTo>
                    <a:pt x="6824" y="711594"/>
                  </a:lnTo>
                  <a:lnTo>
                    <a:pt x="0" y="669289"/>
                  </a:lnTo>
                  <a:lnTo>
                    <a:pt x="0" y="133857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3" name="object 23"/>
          <p:cNvSpPr txBox="1"/>
          <p:nvPr/>
        </p:nvSpPr>
        <p:spPr>
          <a:xfrm>
            <a:off x="658774" y="2824988"/>
            <a:ext cx="2273300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767080" marR="5080" indent="-755015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2.)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data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goals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?</a:t>
            </a:r>
            <a:endParaRPr sz="2000">
              <a:latin typeface="Segoe UI Light"/>
              <a:cs typeface="Segoe UI Light"/>
            </a:endParaRPr>
          </a:p>
        </p:txBody>
      </p:sp>
      <p:grpSp>
        <p:nvGrpSpPr>
          <p:cNvPr id="24" name="object 24"/>
          <p:cNvGrpSpPr/>
          <p:nvPr/>
        </p:nvGrpSpPr>
        <p:grpSpPr>
          <a:xfrm>
            <a:off x="4554982" y="2430526"/>
            <a:ext cx="3082290" cy="979169"/>
            <a:chOff x="4554982" y="2430526"/>
            <a:chExt cx="3082290" cy="979169"/>
          </a:xfrm>
        </p:grpSpPr>
        <p:sp>
          <p:nvSpPr>
            <p:cNvPr id="25" name="object 25"/>
            <p:cNvSpPr/>
            <p:nvPr/>
          </p:nvSpPr>
          <p:spPr>
            <a:xfrm>
              <a:off x="4584192" y="2459736"/>
              <a:ext cx="3023870" cy="920750"/>
            </a:xfrm>
            <a:custGeom>
              <a:avLst/>
              <a:gdLst/>
              <a:ahLst/>
              <a:cxnLst/>
              <a:rect l="l" t="t" r="r" b="b"/>
              <a:pathLst>
                <a:path w="3023870" h="920750">
                  <a:moveTo>
                    <a:pt x="2870200" y="0"/>
                  </a:moveTo>
                  <a:lnTo>
                    <a:pt x="153416" y="0"/>
                  </a:lnTo>
                  <a:lnTo>
                    <a:pt x="104932" y="7823"/>
                  </a:lnTo>
                  <a:lnTo>
                    <a:pt x="62819" y="29606"/>
                  </a:lnTo>
                  <a:lnTo>
                    <a:pt x="29606" y="62819"/>
                  </a:lnTo>
                  <a:lnTo>
                    <a:pt x="7823" y="104932"/>
                  </a:lnTo>
                  <a:lnTo>
                    <a:pt x="0" y="153415"/>
                  </a:lnTo>
                  <a:lnTo>
                    <a:pt x="0" y="767079"/>
                  </a:lnTo>
                  <a:lnTo>
                    <a:pt x="7823" y="815563"/>
                  </a:lnTo>
                  <a:lnTo>
                    <a:pt x="29606" y="857676"/>
                  </a:lnTo>
                  <a:lnTo>
                    <a:pt x="62819" y="890889"/>
                  </a:lnTo>
                  <a:lnTo>
                    <a:pt x="104932" y="912672"/>
                  </a:lnTo>
                  <a:lnTo>
                    <a:pt x="153416" y="920496"/>
                  </a:lnTo>
                  <a:lnTo>
                    <a:pt x="2870200" y="920496"/>
                  </a:lnTo>
                  <a:lnTo>
                    <a:pt x="2918683" y="912672"/>
                  </a:lnTo>
                  <a:lnTo>
                    <a:pt x="2960796" y="890889"/>
                  </a:lnTo>
                  <a:lnTo>
                    <a:pt x="2994009" y="857676"/>
                  </a:lnTo>
                  <a:lnTo>
                    <a:pt x="3015792" y="815563"/>
                  </a:lnTo>
                  <a:lnTo>
                    <a:pt x="3023616" y="767079"/>
                  </a:lnTo>
                  <a:lnTo>
                    <a:pt x="3023616" y="153415"/>
                  </a:lnTo>
                  <a:lnTo>
                    <a:pt x="3015792" y="104932"/>
                  </a:lnTo>
                  <a:lnTo>
                    <a:pt x="2994009" y="62819"/>
                  </a:lnTo>
                  <a:lnTo>
                    <a:pt x="2960796" y="29606"/>
                  </a:lnTo>
                  <a:lnTo>
                    <a:pt x="2918683" y="7823"/>
                  </a:lnTo>
                  <a:lnTo>
                    <a:pt x="2870200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6" name="object 26"/>
            <p:cNvSpPr/>
            <p:nvPr/>
          </p:nvSpPr>
          <p:spPr>
            <a:xfrm>
              <a:off x="4584192" y="2459736"/>
              <a:ext cx="3023870" cy="920750"/>
            </a:xfrm>
            <a:custGeom>
              <a:avLst/>
              <a:gdLst/>
              <a:ahLst/>
              <a:cxnLst/>
              <a:rect l="l" t="t" r="r" b="b"/>
              <a:pathLst>
                <a:path w="3023870" h="920750">
                  <a:moveTo>
                    <a:pt x="0" y="153415"/>
                  </a:moveTo>
                  <a:lnTo>
                    <a:pt x="7823" y="104932"/>
                  </a:lnTo>
                  <a:lnTo>
                    <a:pt x="29606" y="62819"/>
                  </a:lnTo>
                  <a:lnTo>
                    <a:pt x="62819" y="29606"/>
                  </a:lnTo>
                  <a:lnTo>
                    <a:pt x="104932" y="7823"/>
                  </a:lnTo>
                  <a:lnTo>
                    <a:pt x="153416" y="0"/>
                  </a:lnTo>
                  <a:lnTo>
                    <a:pt x="2870200" y="0"/>
                  </a:lnTo>
                  <a:lnTo>
                    <a:pt x="2918683" y="7823"/>
                  </a:lnTo>
                  <a:lnTo>
                    <a:pt x="2960796" y="29606"/>
                  </a:lnTo>
                  <a:lnTo>
                    <a:pt x="2994009" y="62819"/>
                  </a:lnTo>
                  <a:lnTo>
                    <a:pt x="3015792" y="104932"/>
                  </a:lnTo>
                  <a:lnTo>
                    <a:pt x="3023616" y="153415"/>
                  </a:lnTo>
                  <a:lnTo>
                    <a:pt x="3023616" y="767079"/>
                  </a:lnTo>
                  <a:lnTo>
                    <a:pt x="3015792" y="815563"/>
                  </a:lnTo>
                  <a:lnTo>
                    <a:pt x="2994009" y="857676"/>
                  </a:lnTo>
                  <a:lnTo>
                    <a:pt x="2960796" y="890889"/>
                  </a:lnTo>
                  <a:lnTo>
                    <a:pt x="2918683" y="912672"/>
                  </a:lnTo>
                  <a:lnTo>
                    <a:pt x="2870200" y="920496"/>
                  </a:lnTo>
                  <a:lnTo>
                    <a:pt x="153416" y="920496"/>
                  </a:lnTo>
                  <a:lnTo>
                    <a:pt x="104932" y="912672"/>
                  </a:lnTo>
                  <a:lnTo>
                    <a:pt x="62819" y="890889"/>
                  </a:lnTo>
                  <a:lnTo>
                    <a:pt x="29606" y="857676"/>
                  </a:lnTo>
                  <a:lnTo>
                    <a:pt x="7823" y="815563"/>
                  </a:lnTo>
                  <a:lnTo>
                    <a:pt x="0" y="767079"/>
                  </a:lnTo>
                  <a:lnTo>
                    <a:pt x="0" y="153415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7" name="object 27"/>
          <p:cNvSpPr txBox="1"/>
          <p:nvPr/>
        </p:nvSpPr>
        <p:spPr>
          <a:xfrm>
            <a:off x="4777485" y="2489961"/>
            <a:ext cx="2635250" cy="8483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08915" marR="196850" indent="10668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2.1)</a:t>
            </a:r>
            <a:r>
              <a:rPr sz="1800" b="0" spc="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Convert</a:t>
            </a:r>
            <a:r>
              <a:rPr sz="18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business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objectives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into</a:t>
            </a:r>
            <a:r>
              <a:rPr sz="18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specifics</a:t>
            </a:r>
            <a:endParaRPr sz="18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relating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endParaRPr sz="1800">
              <a:latin typeface="Segoe UI Light"/>
              <a:cs typeface="Segoe UI Light"/>
            </a:endParaRPr>
          </a:p>
        </p:txBody>
      </p:sp>
      <p:grpSp>
        <p:nvGrpSpPr>
          <p:cNvPr id="28" name="object 28"/>
          <p:cNvGrpSpPr/>
          <p:nvPr/>
        </p:nvGrpSpPr>
        <p:grpSpPr>
          <a:xfrm>
            <a:off x="4567173" y="3657346"/>
            <a:ext cx="3082290" cy="627380"/>
            <a:chOff x="4567173" y="3657346"/>
            <a:chExt cx="3082290" cy="627380"/>
          </a:xfrm>
        </p:grpSpPr>
        <p:sp>
          <p:nvSpPr>
            <p:cNvPr id="29" name="object 29"/>
            <p:cNvSpPr/>
            <p:nvPr/>
          </p:nvSpPr>
          <p:spPr>
            <a:xfrm>
              <a:off x="4596383" y="3686556"/>
              <a:ext cx="3023870" cy="568960"/>
            </a:xfrm>
            <a:custGeom>
              <a:avLst/>
              <a:gdLst/>
              <a:ahLst/>
              <a:cxnLst/>
              <a:rect l="l" t="t" r="r" b="b"/>
              <a:pathLst>
                <a:path w="3023870" h="568960">
                  <a:moveTo>
                    <a:pt x="2928873" y="0"/>
                  </a:moveTo>
                  <a:lnTo>
                    <a:pt x="94741" y="0"/>
                  </a:lnTo>
                  <a:lnTo>
                    <a:pt x="57864" y="7445"/>
                  </a:lnTo>
                  <a:lnTo>
                    <a:pt x="27749" y="27749"/>
                  </a:lnTo>
                  <a:lnTo>
                    <a:pt x="7445" y="57864"/>
                  </a:lnTo>
                  <a:lnTo>
                    <a:pt x="0" y="94742"/>
                  </a:lnTo>
                  <a:lnTo>
                    <a:pt x="0" y="473710"/>
                  </a:lnTo>
                  <a:lnTo>
                    <a:pt x="7445" y="510587"/>
                  </a:lnTo>
                  <a:lnTo>
                    <a:pt x="27749" y="540702"/>
                  </a:lnTo>
                  <a:lnTo>
                    <a:pt x="57864" y="561006"/>
                  </a:lnTo>
                  <a:lnTo>
                    <a:pt x="94741" y="568452"/>
                  </a:lnTo>
                  <a:lnTo>
                    <a:pt x="2928873" y="568452"/>
                  </a:lnTo>
                  <a:lnTo>
                    <a:pt x="2965751" y="561006"/>
                  </a:lnTo>
                  <a:lnTo>
                    <a:pt x="2995866" y="540702"/>
                  </a:lnTo>
                  <a:lnTo>
                    <a:pt x="3016170" y="510587"/>
                  </a:lnTo>
                  <a:lnTo>
                    <a:pt x="3023616" y="473710"/>
                  </a:lnTo>
                  <a:lnTo>
                    <a:pt x="3023616" y="94742"/>
                  </a:lnTo>
                  <a:lnTo>
                    <a:pt x="3016170" y="57864"/>
                  </a:lnTo>
                  <a:lnTo>
                    <a:pt x="2995866" y="27749"/>
                  </a:lnTo>
                  <a:lnTo>
                    <a:pt x="2965751" y="7445"/>
                  </a:lnTo>
                  <a:lnTo>
                    <a:pt x="2928873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30"/>
            <p:cNvSpPr/>
            <p:nvPr/>
          </p:nvSpPr>
          <p:spPr>
            <a:xfrm>
              <a:off x="4596383" y="3686556"/>
              <a:ext cx="3023870" cy="568960"/>
            </a:xfrm>
            <a:custGeom>
              <a:avLst/>
              <a:gdLst/>
              <a:ahLst/>
              <a:cxnLst/>
              <a:rect l="l" t="t" r="r" b="b"/>
              <a:pathLst>
                <a:path w="3023870" h="568960">
                  <a:moveTo>
                    <a:pt x="0" y="94742"/>
                  </a:moveTo>
                  <a:lnTo>
                    <a:pt x="7445" y="57864"/>
                  </a:lnTo>
                  <a:lnTo>
                    <a:pt x="27749" y="27749"/>
                  </a:lnTo>
                  <a:lnTo>
                    <a:pt x="57864" y="7445"/>
                  </a:lnTo>
                  <a:lnTo>
                    <a:pt x="94741" y="0"/>
                  </a:lnTo>
                  <a:lnTo>
                    <a:pt x="2928873" y="0"/>
                  </a:lnTo>
                  <a:lnTo>
                    <a:pt x="2965751" y="7445"/>
                  </a:lnTo>
                  <a:lnTo>
                    <a:pt x="2995866" y="27749"/>
                  </a:lnTo>
                  <a:lnTo>
                    <a:pt x="3016170" y="57864"/>
                  </a:lnTo>
                  <a:lnTo>
                    <a:pt x="3023616" y="94742"/>
                  </a:lnTo>
                  <a:lnTo>
                    <a:pt x="3023616" y="473710"/>
                  </a:lnTo>
                  <a:lnTo>
                    <a:pt x="3016170" y="510587"/>
                  </a:lnTo>
                  <a:lnTo>
                    <a:pt x="2995866" y="540702"/>
                  </a:lnTo>
                  <a:lnTo>
                    <a:pt x="2965751" y="561006"/>
                  </a:lnTo>
                  <a:lnTo>
                    <a:pt x="2928873" y="568452"/>
                  </a:lnTo>
                  <a:lnTo>
                    <a:pt x="94741" y="568452"/>
                  </a:lnTo>
                  <a:lnTo>
                    <a:pt x="57864" y="561006"/>
                  </a:lnTo>
                  <a:lnTo>
                    <a:pt x="27749" y="540702"/>
                  </a:lnTo>
                  <a:lnTo>
                    <a:pt x="7445" y="510587"/>
                  </a:lnTo>
                  <a:lnTo>
                    <a:pt x="0" y="473710"/>
                  </a:lnTo>
                  <a:lnTo>
                    <a:pt x="0" y="94742"/>
                  </a:lnTo>
                  <a:close/>
                </a:path>
              </a:pathLst>
            </a:custGeom>
            <a:ln w="57911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4946650" y="3678377"/>
            <a:ext cx="2325370" cy="5753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2.2)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Define</a:t>
            </a:r>
            <a:r>
              <a:rPr sz="18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analysis</a:t>
            </a:r>
            <a:endParaRPr sz="18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success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criteria</a:t>
            </a:r>
            <a:endParaRPr sz="1800">
              <a:latin typeface="Segoe UI Light"/>
              <a:cs typeface="Segoe UI Light"/>
            </a:endParaRPr>
          </a:p>
        </p:txBody>
      </p:sp>
      <p:grpSp>
        <p:nvGrpSpPr>
          <p:cNvPr id="32" name="object 32"/>
          <p:cNvGrpSpPr/>
          <p:nvPr/>
        </p:nvGrpSpPr>
        <p:grpSpPr>
          <a:xfrm>
            <a:off x="394715" y="4189476"/>
            <a:ext cx="2804160" cy="862965"/>
            <a:chOff x="394715" y="4189476"/>
            <a:chExt cx="2804160" cy="862965"/>
          </a:xfrm>
        </p:grpSpPr>
        <p:sp>
          <p:nvSpPr>
            <p:cNvPr id="33" name="object 33"/>
            <p:cNvSpPr/>
            <p:nvPr/>
          </p:nvSpPr>
          <p:spPr>
            <a:xfrm>
              <a:off x="423671" y="4218432"/>
              <a:ext cx="2746375" cy="805180"/>
            </a:xfrm>
            <a:custGeom>
              <a:avLst/>
              <a:gdLst/>
              <a:ahLst/>
              <a:cxnLst/>
              <a:rect l="l" t="t" r="r" b="b"/>
              <a:pathLst>
                <a:path w="2746375" h="805179">
                  <a:moveTo>
                    <a:pt x="2612136" y="0"/>
                  </a:moveTo>
                  <a:lnTo>
                    <a:pt x="134112" y="0"/>
                  </a:lnTo>
                  <a:lnTo>
                    <a:pt x="91722" y="6839"/>
                  </a:lnTo>
                  <a:lnTo>
                    <a:pt x="54907" y="25883"/>
                  </a:lnTo>
                  <a:lnTo>
                    <a:pt x="25876" y="54918"/>
                  </a:lnTo>
                  <a:lnTo>
                    <a:pt x="6837" y="9173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7" y="712939"/>
                  </a:lnTo>
                  <a:lnTo>
                    <a:pt x="25876" y="749753"/>
                  </a:lnTo>
                  <a:lnTo>
                    <a:pt x="54907" y="778788"/>
                  </a:lnTo>
                  <a:lnTo>
                    <a:pt x="91722" y="797832"/>
                  </a:lnTo>
                  <a:lnTo>
                    <a:pt x="134112" y="804672"/>
                  </a:lnTo>
                  <a:lnTo>
                    <a:pt x="2612136" y="804672"/>
                  </a:lnTo>
                  <a:lnTo>
                    <a:pt x="2654515" y="797832"/>
                  </a:lnTo>
                  <a:lnTo>
                    <a:pt x="2691329" y="778788"/>
                  </a:lnTo>
                  <a:lnTo>
                    <a:pt x="2720364" y="749753"/>
                  </a:lnTo>
                  <a:lnTo>
                    <a:pt x="2739408" y="712939"/>
                  </a:lnTo>
                  <a:lnTo>
                    <a:pt x="2746248" y="670560"/>
                  </a:lnTo>
                  <a:lnTo>
                    <a:pt x="2746248" y="134112"/>
                  </a:lnTo>
                  <a:lnTo>
                    <a:pt x="2739408" y="91732"/>
                  </a:lnTo>
                  <a:lnTo>
                    <a:pt x="2720364" y="54918"/>
                  </a:lnTo>
                  <a:lnTo>
                    <a:pt x="2691329" y="25883"/>
                  </a:lnTo>
                  <a:lnTo>
                    <a:pt x="2654515" y="6839"/>
                  </a:lnTo>
                  <a:lnTo>
                    <a:pt x="2612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4" name="object 34"/>
            <p:cNvSpPr/>
            <p:nvPr/>
          </p:nvSpPr>
          <p:spPr>
            <a:xfrm>
              <a:off x="423671" y="4218432"/>
              <a:ext cx="2746375" cy="805180"/>
            </a:xfrm>
            <a:custGeom>
              <a:avLst/>
              <a:gdLst/>
              <a:ahLst/>
              <a:cxnLst/>
              <a:rect l="l" t="t" r="r" b="b"/>
              <a:pathLst>
                <a:path w="2746375" h="805179">
                  <a:moveTo>
                    <a:pt x="0" y="134112"/>
                  </a:moveTo>
                  <a:lnTo>
                    <a:pt x="6837" y="91732"/>
                  </a:lnTo>
                  <a:lnTo>
                    <a:pt x="25876" y="54918"/>
                  </a:lnTo>
                  <a:lnTo>
                    <a:pt x="54907" y="25883"/>
                  </a:lnTo>
                  <a:lnTo>
                    <a:pt x="91722" y="6839"/>
                  </a:lnTo>
                  <a:lnTo>
                    <a:pt x="134112" y="0"/>
                  </a:lnTo>
                  <a:lnTo>
                    <a:pt x="2612136" y="0"/>
                  </a:lnTo>
                  <a:lnTo>
                    <a:pt x="2654515" y="6839"/>
                  </a:lnTo>
                  <a:lnTo>
                    <a:pt x="2691329" y="25883"/>
                  </a:lnTo>
                  <a:lnTo>
                    <a:pt x="2720364" y="54918"/>
                  </a:lnTo>
                  <a:lnTo>
                    <a:pt x="2739408" y="91732"/>
                  </a:lnTo>
                  <a:lnTo>
                    <a:pt x="2746248" y="134112"/>
                  </a:lnTo>
                  <a:lnTo>
                    <a:pt x="2746248" y="670560"/>
                  </a:lnTo>
                  <a:lnTo>
                    <a:pt x="2739408" y="712939"/>
                  </a:lnTo>
                  <a:lnTo>
                    <a:pt x="2720364" y="749753"/>
                  </a:lnTo>
                  <a:lnTo>
                    <a:pt x="2691329" y="778788"/>
                  </a:lnTo>
                  <a:lnTo>
                    <a:pt x="2654515" y="797832"/>
                  </a:lnTo>
                  <a:lnTo>
                    <a:pt x="2612136" y="804672"/>
                  </a:lnTo>
                  <a:lnTo>
                    <a:pt x="134112" y="804672"/>
                  </a:lnTo>
                  <a:lnTo>
                    <a:pt x="91722" y="797832"/>
                  </a:lnTo>
                  <a:lnTo>
                    <a:pt x="54907" y="778788"/>
                  </a:lnTo>
                  <a:lnTo>
                    <a:pt x="25876" y="749753"/>
                  </a:lnTo>
                  <a:lnTo>
                    <a:pt x="6837" y="71293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5" name="object 35"/>
          <p:cNvSpPr txBox="1"/>
          <p:nvPr/>
        </p:nvSpPr>
        <p:spPr>
          <a:xfrm>
            <a:off x="578002" y="4295597"/>
            <a:ext cx="2437130" cy="63690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5"/>
              </a:spcBef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3.)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Which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technologies</a:t>
            </a:r>
            <a:endParaRPr sz="20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 use </a:t>
            </a:r>
            <a:r>
              <a:rPr sz="20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?</a:t>
            </a:r>
            <a:endParaRPr sz="2000">
              <a:latin typeface="Segoe UI Light"/>
              <a:cs typeface="Segoe UI Light"/>
            </a:endParaRPr>
          </a:p>
        </p:txBody>
      </p:sp>
      <p:grpSp>
        <p:nvGrpSpPr>
          <p:cNvPr id="36" name="object 36"/>
          <p:cNvGrpSpPr/>
          <p:nvPr/>
        </p:nvGrpSpPr>
        <p:grpSpPr>
          <a:xfrm>
            <a:off x="394715" y="5660135"/>
            <a:ext cx="2804160" cy="862965"/>
            <a:chOff x="394715" y="5660135"/>
            <a:chExt cx="2804160" cy="862965"/>
          </a:xfrm>
        </p:grpSpPr>
        <p:sp>
          <p:nvSpPr>
            <p:cNvPr id="37" name="object 37"/>
            <p:cNvSpPr/>
            <p:nvPr/>
          </p:nvSpPr>
          <p:spPr>
            <a:xfrm>
              <a:off x="423671" y="5689091"/>
              <a:ext cx="2746375" cy="805180"/>
            </a:xfrm>
            <a:custGeom>
              <a:avLst/>
              <a:gdLst/>
              <a:ahLst/>
              <a:cxnLst/>
              <a:rect l="l" t="t" r="r" b="b"/>
              <a:pathLst>
                <a:path w="2746375" h="805179">
                  <a:moveTo>
                    <a:pt x="2612136" y="0"/>
                  </a:moveTo>
                  <a:lnTo>
                    <a:pt x="134112" y="0"/>
                  </a:lnTo>
                  <a:lnTo>
                    <a:pt x="91722" y="6837"/>
                  </a:lnTo>
                  <a:lnTo>
                    <a:pt x="54907" y="25876"/>
                  </a:lnTo>
                  <a:lnTo>
                    <a:pt x="25876" y="54907"/>
                  </a:lnTo>
                  <a:lnTo>
                    <a:pt x="6837" y="91722"/>
                  </a:lnTo>
                  <a:lnTo>
                    <a:pt x="0" y="134112"/>
                  </a:lnTo>
                  <a:lnTo>
                    <a:pt x="0" y="670560"/>
                  </a:lnTo>
                  <a:lnTo>
                    <a:pt x="6837" y="712949"/>
                  </a:lnTo>
                  <a:lnTo>
                    <a:pt x="25876" y="749764"/>
                  </a:lnTo>
                  <a:lnTo>
                    <a:pt x="54907" y="778795"/>
                  </a:lnTo>
                  <a:lnTo>
                    <a:pt x="91722" y="797834"/>
                  </a:lnTo>
                  <a:lnTo>
                    <a:pt x="134112" y="804672"/>
                  </a:lnTo>
                  <a:lnTo>
                    <a:pt x="2612136" y="804672"/>
                  </a:lnTo>
                  <a:lnTo>
                    <a:pt x="2654515" y="797834"/>
                  </a:lnTo>
                  <a:lnTo>
                    <a:pt x="2691329" y="778795"/>
                  </a:lnTo>
                  <a:lnTo>
                    <a:pt x="2720364" y="749764"/>
                  </a:lnTo>
                  <a:lnTo>
                    <a:pt x="2739408" y="712949"/>
                  </a:lnTo>
                  <a:lnTo>
                    <a:pt x="2746248" y="670560"/>
                  </a:lnTo>
                  <a:lnTo>
                    <a:pt x="2746248" y="134112"/>
                  </a:lnTo>
                  <a:lnTo>
                    <a:pt x="2739408" y="91722"/>
                  </a:lnTo>
                  <a:lnTo>
                    <a:pt x="2720364" y="54907"/>
                  </a:lnTo>
                  <a:lnTo>
                    <a:pt x="2691329" y="25876"/>
                  </a:lnTo>
                  <a:lnTo>
                    <a:pt x="2654515" y="6837"/>
                  </a:lnTo>
                  <a:lnTo>
                    <a:pt x="261213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38"/>
            <p:cNvSpPr/>
            <p:nvPr/>
          </p:nvSpPr>
          <p:spPr>
            <a:xfrm>
              <a:off x="423671" y="5689091"/>
              <a:ext cx="2746375" cy="805180"/>
            </a:xfrm>
            <a:custGeom>
              <a:avLst/>
              <a:gdLst/>
              <a:ahLst/>
              <a:cxnLst/>
              <a:rect l="l" t="t" r="r" b="b"/>
              <a:pathLst>
                <a:path w="2746375" h="805179">
                  <a:moveTo>
                    <a:pt x="0" y="134112"/>
                  </a:moveTo>
                  <a:lnTo>
                    <a:pt x="6837" y="91722"/>
                  </a:lnTo>
                  <a:lnTo>
                    <a:pt x="25876" y="54907"/>
                  </a:lnTo>
                  <a:lnTo>
                    <a:pt x="54907" y="25876"/>
                  </a:lnTo>
                  <a:lnTo>
                    <a:pt x="91722" y="6837"/>
                  </a:lnTo>
                  <a:lnTo>
                    <a:pt x="134112" y="0"/>
                  </a:lnTo>
                  <a:lnTo>
                    <a:pt x="2612136" y="0"/>
                  </a:lnTo>
                  <a:lnTo>
                    <a:pt x="2654515" y="6837"/>
                  </a:lnTo>
                  <a:lnTo>
                    <a:pt x="2691329" y="25876"/>
                  </a:lnTo>
                  <a:lnTo>
                    <a:pt x="2720364" y="54907"/>
                  </a:lnTo>
                  <a:lnTo>
                    <a:pt x="2739408" y="91722"/>
                  </a:lnTo>
                  <a:lnTo>
                    <a:pt x="2746248" y="134112"/>
                  </a:lnTo>
                  <a:lnTo>
                    <a:pt x="2746248" y="670560"/>
                  </a:lnTo>
                  <a:lnTo>
                    <a:pt x="2739408" y="712949"/>
                  </a:lnTo>
                  <a:lnTo>
                    <a:pt x="2720364" y="749764"/>
                  </a:lnTo>
                  <a:lnTo>
                    <a:pt x="2691329" y="778795"/>
                  </a:lnTo>
                  <a:lnTo>
                    <a:pt x="2654515" y="797834"/>
                  </a:lnTo>
                  <a:lnTo>
                    <a:pt x="2612136" y="804672"/>
                  </a:lnTo>
                  <a:lnTo>
                    <a:pt x="134112" y="804672"/>
                  </a:lnTo>
                  <a:lnTo>
                    <a:pt x="91722" y="797834"/>
                  </a:lnTo>
                  <a:lnTo>
                    <a:pt x="54907" y="778795"/>
                  </a:lnTo>
                  <a:lnTo>
                    <a:pt x="25876" y="749764"/>
                  </a:lnTo>
                  <a:lnTo>
                    <a:pt x="6837" y="712949"/>
                  </a:lnTo>
                  <a:lnTo>
                    <a:pt x="0" y="670560"/>
                  </a:lnTo>
                  <a:lnTo>
                    <a:pt x="0" y="134112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39" name="object 39"/>
          <p:cNvSpPr txBox="1"/>
          <p:nvPr/>
        </p:nvSpPr>
        <p:spPr>
          <a:xfrm>
            <a:off x="829462" y="5919622"/>
            <a:ext cx="193421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4.)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collection</a:t>
            </a:r>
            <a:endParaRPr sz="2000">
              <a:latin typeface="Segoe UI Light"/>
              <a:cs typeface="Segoe UI Light"/>
            </a:endParaRPr>
          </a:p>
        </p:txBody>
      </p:sp>
      <p:grpSp>
        <p:nvGrpSpPr>
          <p:cNvPr id="40" name="object 40"/>
          <p:cNvGrpSpPr/>
          <p:nvPr/>
        </p:nvGrpSpPr>
        <p:grpSpPr>
          <a:xfrm>
            <a:off x="4479035" y="5519928"/>
            <a:ext cx="3234055" cy="1143000"/>
            <a:chOff x="4479035" y="5519928"/>
            <a:chExt cx="3234055" cy="1143000"/>
          </a:xfrm>
        </p:grpSpPr>
        <p:sp>
          <p:nvSpPr>
            <p:cNvPr id="41" name="object 41"/>
            <p:cNvSpPr/>
            <p:nvPr/>
          </p:nvSpPr>
          <p:spPr>
            <a:xfrm>
              <a:off x="4507991" y="5548884"/>
              <a:ext cx="3176270" cy="1085215"/>
            </a:xfrm>
            <a:custGeom>
              <a:avLst/>
              <a:gdLst/>
              <a:ahLst/>
              <a:cxnLst/>
              <a:rect l="l" t="t" r="r" b="b"/>
              <a:pathLst>
                <a:path w="3176270" h="1085215">
                  <a:moveTo>
                    <a:pt x="2995167" y="0"/>
                  </a:moveTo>
                  <a:lnTo>
                    <a:pt x="180848" y="0"/>
                  </a:lnTo>
                  <a:lnTo>
                    <a:pt x="132791" y="6460"/>
                  </a:lnTo>
                  <a:lnTo>
                    <a:pt x="89596" y="24692"/>
                  </a:lnTo>
                  <a:lnTo>
                    <a:pt x="52990" y="52971"/>
                  </a:lnTo>
                  <a:lnTo>
                    <a:pt x="24703" y="89573"/>
                  </a:lnTo>
                  <a:lnTo>
                    <a:pt x="6464" y="132773"/>
                  </a:lnTo>
                  <a:lnTo>
                    <a:pt x="0" y="180847"/>
                  </a:lnTo>
                  <a:lnTo>
                    <a:pt x="0" y="904239"/>
                  </a:lnTo>
                  <a:lnTo>
                    <a:pt x="6464" y="952314"/>
                  </a:lnTo>
                  <a:lnTo>
                    <a:pt x="24703" y="995514"/>
                  </a:lnTo>
                  <a:lnTo>
                    <a:pt x="52990" y="1032116"/>
                  </a:lnTo>
                  <a:lnTo>
                    <a:pt x="89596" y="1060395"/>
                  </a:lnTo>
                  <a:lnTo>
                    <a:pt x="132791" y="1078627"/>
                  </a:lnTo>
                  <a:lnTo>
                    <a:pt x="180848" y="1085087"/>
                  </a:lnTo>
                  <a:lnTo>
                    <a:pt x="2995167" y="1085087"/>
                  </a:lnTo>
                  <a:lnTo>
                    <a:pt x="3043224" y="1078627"/>
                  </a:lnTo>
                  <a:lnTo>
                    <a:pt x="3086419" y="1060395"/>
                  </a:lnTo>
                  <a:lnTo>
                    <a:pt x="3123025" y="1032116"/>
                  </a:lnTo>
                  <a:lnTo>
                    <a:pt x="3151312" y="995514"/>
                  </a:lnTo>
                  <a:lnTo>
                    <a:pt x="3169551" y="952314"/>
                  </a:lnTo>
                  <a:lnTo>
                    <a:pt x="3176016" y="904239"/>
                  </a:lnTo>
                  <a:lnTo>
                    <a:pt x="3176016" y="180847"/>
                  </a:lnTo>
                  <a:lnTo>
                    <a:pt x="3169551" y="132773"/>
                  </a:lnTo>
                  <a:lnTo>
                    <a:pt x="3151312" y="89573"/>
                  </a:lnTo>
                  <a:lnTo>
                    <a:pt x="3123025" y="52971"/>
                  </a:lnTo>
                  <a:lnTo>
                    <a:pt x="3086419" y="24692"/>
                  </a:lnTo>
                  <a:lnTo>
                    <a:pt x="3043224" y="6460"/>
                  </a:lnTo>
                  <a:lnTo>
                    <a:pt x="2995167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2" name="object 42"/>
            <p:cNvSpPr/>
            <p:nvPr/>
          </p:nvSpPr>
          <p:spPr>
            <a:xfrm>
              <a:off x="4507991" y="5548884"/>
              <a:ext cx="3176270" cy="1085215"/>
            </a:xfrm>
            <a:custGeom>
              <a:avLst/>
              <a:gdLst/>
              <a:ahLst/>
              <a:cxnLst/>
              <a:rect l="l" t="t" r="r" b="b"/>
              <a:pathLst>
                <a:path w="3176270" h="1085215">
                  <a:moveTo>
                    <a:pt x="0" y="180847"/>
                  </a:moveTo>
                  <a:lnTo>
                    <a:pt x="6464" y="132773"/>
                  </a:lnTo>
                  <a:lnTo>
                    <a:pt x="24703" y="89573"/>
                  </a:lnTo>
                  <a:lnTo>
                    <a:pt x="52990" y="52971"/>
                  </a:lnTo>
                  <a:lnTo>
                    <a:pt x="89596" y="24692"/>
                  </a:lnTo>
                  <a:lnTo>
                    <a:pt x="132791" y="6460"/>
                  </a:lnTo>
                  <a:lnTo>
                    <a:pt x="180848" y="0"/>
                  </a:lnTo>
                  <a:lnTo>
                    <a:pt x="2995167" y="0"/>
                  </a:lnTo>
                  <a:lnTo>
                    <a:pt x="3043224" y="6460"/>
                  </a:lnTo>
                  <a:lnTo>
                    <a:pt x="3086419" y="24692"/>
                  </a:lnTo>
                  <a:lnTo>
                    <a:pt x="3123025" y="52971"/>
                  </a:lnTo>
                  <a:lnTo>
                    <a:pt x="3151312" y="89573"/>
                  </a:lnTo>
                  <a:lnTo>
                    <a:pt x="3169551" y="132773"/>
                  </a:lnTo>
                  <a:lnTo>
                    <a:pt x="3176016" y="180847"/>
                  </a:lnTo>
                  <a:lnTo>
                    <a:pt x="3176016" y="904239"/>
                  </a:lnTo>
                  <a:lnTo>
                    <a:pt x="3169551" y="952314"/>
                  </a:lnTo>
                  <a:lnTo>
                    <a:pt x="3151312" y="995514"/>
                  </a:lnTo>
                  <a:lnTo>
                    <a:pt x="3123025" y="1032116"/>
                  </a:lnTo>
                  <a:lnTo>
                    <a:pt x="3086419" y="1060395"/>
                  </a:lnTo>
                  <a:lnTo>
                    <a:pt x="3043224" y="1078627"/>
                  </a:lnTo>
                  <a:lnTo>
                    <a:pt x="2995167" y="1085087"/>
                  </a:lnTo>
                  <a:lnTo>
                    <a:pt x="180848" y="1085087"/>
                  </a:lnTo>
                  <a:lnTo>
                    <a:pt x="132791" y="1078627"/>
                  </a:lnTo>
                  <a:lnTo>
                    <a:pt x="89596" y="1060395"/>
                  </a:lnTo>
                  <a:lnTo>
                    <a:pt x="52990" y="1032116"/>
                  </a:lnTo>
                  <a:lnTo>
                    <a:pt x="24703" y="995514"/>
                  </a:lnTo>
                  <a:lnTo>
                    <a:pt x="6464" y="952314"/>
                  </a:lnTo>
                  <a:lnTo>
                    <a:pt x="0" y="904239"/>
                  </a:lnTo>
                  <a:lnTo>
                    <a:pt x="0" y="180847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43" name="object 43"/>
          <p:cNvSpPr txBox="1"/>
          <p:nvPr/>
        </p:nvSpPr>
        <p:spPr>
          <a:xfrm>
            <a:off x="4662296" y="5524906"/>
            <a:ext cx="2866390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12445" marR="177800" indent="-326390">
              <a:lnSpc>
                <a:spcPct val="100000"/>
              </a:lnSpc>
              <a:spcBef>
                <a:spcPts val="100"/>
              </a:spcBef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4.1)</a:t>
            </a:r>
            <a:r>
              <a:rPr sz="18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Where</a:t>
            </a:r>
            <a:r>
              <a:rPr sz="18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collect,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how,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generalizable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is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endParaRPr sz="1800">
              <a:latin typeface="Segoe UI Light"/>
              <a:cs typeface="Segoe UI Light"/>
            </a:endParaRPr>
          </a:p>
          <a:p>
            <a:pPr algn="ctr">
              <a:lnSpc>
                <a:spcPct val="100000"/>
              </a:lnSpc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results/data,</a:t>
            </a:r>
            <a:r>
              <a:rPr sz="1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perceived</a:t>
            </a:r>
            <a:r>
              <a:rPr sz="18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quality</a:t>
            </a:r>
            <a:endParaRPr sz="1800">
              <a:latin typeface="Segoe UI Light"/>
              <a:cs typeface="Segoe UI Light"/>
            </a:endParaRPr>
          </a:p>
          <a:p>
            <a:pPr marL="2540" algn="ctr">
              <a:lnSpc>
                <a:spcPct val="100000"/>
              </a:lnSpc>
            </a:pPr>
            <a:r>
              <a:rPr sz="18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1800" b="0" spc="-5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8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data</a:t>
            </a:r>
            <a:endParaRPr sz="1800">
              <a:latin typeface="Segoe UI Light"/>
              <a:cs typeface="Segoe UI Light"/>
            </a:endParaRPr>
          </a:p>
        </p:txBody>
      </p:sp>
      <p:sp>
        <p:nvSpPr>
          <p:cNvPr id="44" name="object 44"/>
          <p:cNvSpPr/>
          <p:nvPr/>
        </p:nvSpPr>
        <p:spPr>
          <a:xfrm>
            <a:off x="1754123" y="3976115"/>
            <a:ext cx="4370070" cy="523875"/>
          </a:xfrm>
          <a:custGeom>
            <a:avLst/>
            <a:gdLst/>
            <a:ahLst/>
            <a:cxnLst/>
            <a:rect l="l" t="t" r="r" b="b"/>
            <a:pathLst>
              <a:path w="4370070" h="523875">
                <a:moveTo>
                  <a:pt x="2115312" y="14477"/>
                </a:moveTo>
                <a:lnTo>
                  <a:pt x="2115312" y="523366"/>
                </a:lnTo>
                <a:lnTo>
                  <a:pt x="4369562" y="523366"/>
                </a:lnTo>
                <a:lnTo>
                  <a:pt x="4369562" y="508888"/>
                </a:lnTo>
                <a:lnTo>
                  <a:pt x="2144267" y="508888"/>
                </a:lnTo>
                <a:lnTo>
                  <a:pt x="2129790" y="494410"/>
                </a:lnTo>
                <a:lnTo>
                  <a:pt x="2144267" y="494410"/>
                </a:lnTo>
                <a:lnTo>
                  <a:pt x="2144267" y="28955"/>
                </a:lnTo>
                <a:lnTo>
                  <a:pt x="2129790" y="28955"/>
                </a:lnTo>
                <a:lnTo>
                  <a:pt x="2115312" y="14477"/>
                </a:lnTo>
                <a:close/>
              </a:path>
              <a:path w="4370070" h="523875">
                <a:moveTo>
                  <a:pt x="2144267" y="494410"/>
                </a:moveTo>
                <a:lnTo>
                  <a:pt x="2129790" y="494410"/>
                </a:lnTo>
                <a:lnTo>
                  <a:pt x="2144267" y="508888"/>
                </a:lnTo>
                <a:lnTo>
                  <a:pt x="2144267" y="494410"/>
                </a:lnTo>
                <a:close/>
              </a:path>
              <a:path w="4370070" h="523875">
                <a:moveTo>
                  <a:pt x="4340606" y="494410"/>
                </a:moveTo>
                <a:lnTo>
                  <a:pt x="2144267" y="494410"/>
                </a:lnTo>
                <a:lnTo>
                  <a:pt x="2144267" y="508888"/>
                </a:lnTo>
                <a:lnTo>
                  <a:pt x="4340606" y="508888"/>
                </a:lnTo>
                <a:lnTo>
                  <a:pt x="4340606" y="494410"/>
                </a:lnTo>
                <a:close/>
              </a:path>
              <a:path w="4370070" h="523875">
                <a:moveTo>
                  <a:pt x="4369562" y="280288"/>
                </a:moveTo>
                <a:lnTo>
                  <a:pt x="4340606" y="280288"/>
                </a:lnTo>
                <a:lnTo>
                  <a:pt x="4340606" y="508888"/>
                </a:lnTo>
                <a:lnTo>
                  <a:pt x="4355084" y="494410"/>
                </a:lnTo>
                <a:lnTo>
                  <a:pt x="4369562" y="494410"/>
                </a:lnTo>
                <a:lnTo>
                  <a:pt x="4369562" y="280288"/>
                </a:lnTo>
                <a:close/>
              </a:path>
              <a:path w="4370070" h="523875">
                <a:moveTo>
                  <a:pt x="4369562" y="494410"/>
                </a:moveTo>
                <a:lnTo>
                  <a:pt x="4355084" y="494410"/>
                </a:lnTo>
                <a:lnTo>
                  <a:pt x="4340606" y="508888"/>
                </a:lnTo>
                <a:lnTo>
                  <a:pt x="4369562" y="508888"/>
                </a:lnTo>
                <a:lnTo>
                  <a:pt x="4369562" y="494410"/>
                </a:lnTo>
                <a:close/>
              </a:path>
              <a:path w="4370070" h="523875">
                <a:moveTo>
                  <a:pt x="28956" y="156209"/>
                </a:moveTo>
                <a:lnTo>
                  <a:pt x="0" y="156209"/>
                </a:lnTo>
                <a:lnTo>
                  <a:pt x="43433" y="243077"/>
                </a:lnTo>
                <a:lnTo>
                  <a:pt x="79628" y="170687"/>
                </a:lnTo>
                <a:lnTo>
                  <a:pt x="28956" y="170687"/>
                </a:lnTo>
                <a:lnTo>
                  <a:pt x="28956" y="156209"/>
                </a:lnTo>
                <a:close/>
              </a:path>
              <a:path w="4370070" h="523875">
                <a:moveTo>
                  <a:pt x="2144267" y="0"/>
                </a:moveTo>
                <a:lnTo>
                  <a:pt x="28956" y="0"/>
                </a:lnTo>
                <a:lnTo>
                  <a:pt x="28956" y="170687"/>
                </a:lnTo>
                <a:lnTo>
                  <a:pt x="57912" y="170687"/>
                </a:lnTo>
                <a:lnTo>
                  <a:pt x="57912" y="28955"/>
                </a:lnTo>
                <a:lnTo>
                  <a:pt x="43433" y="28955"/>
                </a:lnTo>
                <a:lnTo>
                  <a:pt x="57912" y="14477"/>
                </a:lnTo>
                <a:lnTo>
                  <a:pt x="2144267" y="14477"/>
                </a:lnTo>
                <a:lnTo>
                  <a:pt x="2144267" y="0"/>
                </a:lnTo>
                <a:close/>
              </a:path>
              <a:path w="4370070" h="523875">
                <a:moveTo>
                  <a:pt x="86868" y="156209"/>
                </a:moveTo>
                <a:lnTo>
                  <a:pt x="57912" y="156209"/>
                </a:lnTo>
                <a:lnTo>
                  <a:pt x="57912" y="170687"/>
                </a:lnTo>
                <a:lnTo>
                  <a:pt x="79628" y="170687"/>
                </a:lnTo>
                <a:lnTo>
                  <a:pt x="86868" y="156209"/>
                </a:lnTo>
                <a:close/>
              </a:path>
              <a:path w="4370070" h="523875">
                <a:moveTo>
                  <a:pt x="57912" y="14477"/>
                </a:moveTo>
                <a:lnTo>
                  <a:pt x="43433" y="28955"/>
                </a:lnTo>
                <a:lnTo>
                  <a:pt x="57912" y="28955"/>
                </a:lnTo>
                <a:lnTo>
                  <a:pt x="57912" y="14477"/>
                </a:lnTo>
                <a:close/>
              </a:path>
              <a:path w="4370070" h="523875">
                <a:moveTo>
                  <a:pt x="2115312" y="14477"/>
                </a:moveTo>
                <a:lnTo>
                  <a:pt x="57912" y="14477"/>
                </a:lnTo>
                <a:lnTo>
                  <a:pt x="57912" y="28955"/>
                </a:lnTo>
                <a:lnTo>
                  <a:pt x="2115312" y="28955"/>
                </a:lnTo>
                <a:lnTo>
                  <a:pt x="2115312" y="14477"/>
                </a:lnTo>
                <a:close/>
              </a:path>
              <a:path w="4370070" h="523875">
                <a:moveTo>
                  <a:pt x="2144267" y="14477"/>
                </a:moveTo>
                <a:lnTo>
                  <a:pt x="2115312" y="14477"/>
                </a:lnTo>
                <a:lnTo>
                  <a:pt x="2129790" y="28955"/>
                </a:lnTo>
                <a:lnTo>
                  <a:pt x="2144267" y="28955"/>
                </a:lnTo>
                <a:lnTo>
                  <a:pt x="2144267" y="144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3170682" y="2877311"/>
            <a:ext cx="4693920" cy="1138555"/>
          </a:xfrm>
          <a:custGeom>
            <a:avLst/>
            <a:gdLst/>
            <a:ahLst/>
            <a:cxnLst/>
            <a:rect l="l" t="t" r="r" b="b"/>
            <a:pathLst>
              <a:path w="4693920" h="1138554">
                <a:moveTo>
                  <a:pt x="1414399" y="43434"/>
                </a:moveTo>
                <a:lnTo>
                  <a:pt x="1385430" y="28956"/>
                </a:lnTo>
                <a:lnTo>
                  <a:pt x="1327531" y="0"/>
                </a:lnTo>
                <a:lnTo>
                  <a:pt x="1327531" y="28956"/>
                </a:lnTo>
                <a:lnTo>
                  <a:pt x="692658" y="28956"/>
                </a:lnTo>
                <a:lnTo>
                  <a:pt x="692658" y="258699"/>
                </a:lnTo>
                <a:lnTo>
                  <a:pt x="0" y="258699"/>
                </a:lnTo>
                <a:lnTo>
                  <a:pt x="0" y="287655"/>
                </a:lnTo>
                <a:lnTo>
                  <a:pt x="721614" y="287655"/>
                </a:lnTo>
                <a:lnTo>
                  <a:pt x="721614" y="273177"/>
                </a:lnTo>
                <a:lnTo>
                  <a:pt x="721614" y="258699"/>
                </a:lnTo>
                <a:lnTo>
                  <a:pt x="721614" y="57912"/>
                </a:lnTo>
                <a:lnTo>
                  <a:pt x="1327531" y="57912"/>
                </a:lnTo>
                <a:lnTo>
                  <a:pt x="1327531" y="86868"/>
                </a:lnTo>
                <a:lnTo>
                  <a:pt x="1385443" y="57912"/>
                </a:lnTo>
                <a:lnTo>
                  <a:pt x="1414399" y="43434"/>
                </a:lnTo>
                <a:close/>
              </a:path>
              <a:path w="4693920" h="1138554">
                <a:moveTo>
                  <a:pt x="4693666" y="28956"/>
                </a:moveTo>
                <a:lnTo>
                  <a:pt x="4437888" y="28956"/>
                </a:lnTo>
                <a:lnTo>
                  <a:pt x="4437888" y="57912"/>
                </a:lnTo>
                <a:lnTo>
                  <a:pt x="4664710" y="57912"/>
                </a:lnTo>
                <a:lnTo>
                  <a:pt x="4664710" y="1080389"/>
                </a:lnTo>
                <a:lnTo>
                  <a:pt x="4537456" y="1080389"/>
                </a:lnTo>
                <a:lnTo>
                  <a:pt x="4537456" y="1051433"/>
                </a:lnTo>
                <a:lnTo>
                  <a:pt x="4450588" y="1094867"/>
                </a:lnTo>
                <a:lnTo>
                  <a:pt x="4537456" y="1138301"/>
                </a:lnTo>
                <a:lnTo>
                  <a:pt x="4537456" y="1109345"/>
                </a:lnTo>
                <a:lnTo>
                  <a:pt x="4693666" y="1109345"/>
                </a:lnTo>
                <a:lnTo>
                  <a:pt x="4693666" y="1094867"/>
                </a:lnTo>
                <a:lnTo>
                  <a:pt x="4693666" y="1080389"/>
                </a:lnTo>
                <a:lnTo>
                  <a:pt x="4693666" y="57912"/>
                </a:lnTo>
                <a:lnTo>
                  <a:pt x="4693666" y="43434"/>
                </a:lnTo>
                <a:lnTo>
                  <a:pt x="4693666" y="28956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3170682" y="961643"/>
            <a:ext cx="5478780" cy="891540"/>
          </a:xfrm>
          <a:custGeom>
            <a:avLst/>
            <a:gdLst/>
            <a:ahLst/>
            <a:cxnLst/>
            <a:rect l="l" t="t" r="r" b="b"/>
            <a:pathLst>
              <a:path w="5478780" h="891539">
                <a:moveTo>
                  <a:pt x="1414399" y="43434"/>
                </a:moveTo>
                <a:lnTo>
                  <a:pt x="1385443" y="28956"/>
                </a:lnTo>
                <a:lnTo>
                  <a:pt x="1327531" y="0"/>
                </a:lnTo>
                <a:lnTo>
                  <a:pt x="1327531" y="28956"/>
                </a:lnTo>
                <a:lnTo>
                  <a:pt x="692658" y="28956"/>
                </a:lnTo>
                <a:lnTo>
                  <a:pt x="692658" y="419227"/>
                </a:lnTo>
                <a:lnTo>
                  <a:pt x="0" y="419227"/>
                </a:lnTo>
                <a:lnTo>
                  <a:pt x="0" y="448183"/>
                </a:lnTo>
                <a:lnTo>
                  <a:pt x="721614" y="448183"/>
                </a:lnTo>
                <a:lnTo>
                  <a:pt x="721614" y="433705"/>
                </a:lnTo>
                <a:lnTo>
                  <a:pt x="721614" y="419227"/>
                </a:lnTo>
                <a:lnTo>
                  <a:pt x="721614" y="57912"/>
                </a:lnTo>
                <a:lnTo>
                  <a:pt x="1327531" y="57912"/>
                </a:lnTo>
                <a:lnTo>
                  <a:pt x="1327531" y="86868"/>
                </a:lnTo>
                <a:lnTo>
                  <a:pt x="1385443" y="57912"/>
                </a:lnTo>
                <a:lnTo>
                  <a:pt x="1414399" y="43434"/>
                </a:lnTo>
                <a:close/>
              </a:path>
              <a:path w="5478780" h="891539">
                <a:moveTo>
                  <a:pt x="5478399" y="433578"/>
                </a:moveTo>
                <a:lnTo>
                  <a:pt x="5449443" y="419100"/>
                </a:lnTo>
                <a:lnTo>
                  <a:pt x="5391531" y="390144"/>
                </a:lnTo>
                <a:lnTo>
                  <a:pt x="5391531" y="419100"/>
                </a:lnTo>
                <a:lnTo>
                  <a:pt x="4943729" y="419100"/>
                </a:lnTo>
                <a:lnTo>
                  <a:pt x="4943729" y="833120"/>
                </a:lnTo>
                <a:lnTo>
                  <a:pt x="4680966" y="833120"/>
                </a:lnTo>
                <a:lnTo>
                  <a:pt x="4680966" y="57912"/>
                </a:lnTo>
                <a:lnTo>
                  <a:pt x="4680966" y="43434"/>
                </a:lnTo>
                <a:lnTo>
                  <a:pt x="4680966" y="28956"/>
                </a:lnTo>
                <a:lnTo>
                  <a:pt x="4437888" y="28956"/>
                </a:lnTo>
                <a:lnTo>
                  <a:pt x="4437888" y="57912"/>
                </a:lnTo>
                <a:lnTo>
                  <a:pt x="4652010" y="57912"/>
                </a:lnTo>
                <a:lnTo>
                  <a:pt x="4652010" y="833120"/>
                </a:lnTo>
                <a:lnTo>
                  <a:pt x="4537456" y="833120"/>
                </a:lnTo>
                <a:lnTo>
                  <a:pt x="4537456" y="804291"/>
                </a:lnTo>
                <a:lnTo>
                  <a:pt x="4479798" y="833120"/>
                </a:lnTo>
                <a:lnTo>
                  <a:pt x="4437888" y="833120"/>
                </a:lnTo>
                <a:lnTo>
                  <a:pt x="4437888" y="862076"/>
                </a:lnTo>
                <a:lnTo>
                  <a:pt x="4479290" y="862076"/>
                </a:lnTo>
                <a:lnTo>
                  <a:pt x="4537456" y="891159"/>
                </a:lnTo>
                <a:lnTo>
                  <a:pt x="4537456" y="862203"/>
                </a:lnTo>
                <a:lnTo>
                  <a:pt x="4680966" y="862203"/>
                </a:lnTo>
                <a:lnTo>
                  <a:pt x="4680966" y="862076"/>
                </a:lnTo>
                <a:lnTo>
                  <a:pt x="4972685" y="862076"/>
                </a:lnTo>
                <a:lnTo>
                  <a:pt x="4972685" y="847598"/>
                </a:lnTo>
                <a:lnTo>
                  <a:pt x="4972685" y="833120"/>
                </a:lnTo>
                <a:lnTo>
                  <a:pt x="4972685" y="448056"/>
                </a:lnTo>
                <a:lnTo>
                  <a:pt x="5391531" y="448056"/>
                </a:lnTo>
                <a:lnTo>
                  <a:pt x="5391531" y="477012"/>
                </a:lnTo>
                <a:lnTo>
                  <a:pt x="5449443" y="448056"/>
                </a:lnTo>
                <a:lnTo>
                  <a:pt x="5478399" y="4335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3170682" y="5306567"/>
            <a:ext cx="2969895" cy="800735"/>
          </a:xfrm>
          <a:custGeom>
            <a:avLst/>
            <a:gdLst/>
            <a:ahLst/>
            <a:cxnLst/>
            <a:rect l="l" t="t" r="r" b="b"/>
            <a:pathLst>
              <a:path w="2969895" h="800735">
                <a:moveTo>
                  <a:pt x="654557" y="771258"/>
                </a:moveTo>
                <a:lnTo>
                  <a:pt x="0" y="771258"/>
                </a:lnTo>
                <a:lnTo>
                  <a:pt x="0" y="800214"/>
                </a:lnTo>
                <a:lnTo>
                  <a:pt x="683514" y="800214"/>
                </a:lnTo>
                <a:lnTo>
                  <a:pt x="683514" y="785736"/>
                </a:lnTo>
                <a:lnTo>
                  <a:pt x="654557" y="785736"/>
                </a:lnTo>
                <a:lnTo>
                  <a:pt x="654557" y="771258"/>
                </a:lnTo>
                <a:close/>
              </a:path>
              <a:path w="2969895" h="800735">
                <a:moveTo>
                  <a:pt x="2940558" y="0"/>
                </a:moveTo>
                <a:lnTo>
                  <a:pt x="654557" y="0"/>
                </a:lnTo>
                <a:lnTo>
                  <a:pt x="654557" y="785736"/>
                </a:lnTo>
                <a:lnTo>
                  <a:pt x="669035" y="771258"/>
                </a:lnTo>
                <a:lnTo>
                  <a:pt x="683514" y="771258"/>
                </a:lnTo>
                <a:lnTo>
                  <a:pt x="683514" y="28955"/>
                </a:lnTo>
                <a:lnTo>
                  <a:pt x="669035" y="28955"/>
                </a:lnTo>
                <a:lnTo>
                  <a:pt x="683514" y="14477"/>
                </a:lnTo>
                <a:lnTo>
                  <a:pt x="2940558" y="14477"/>
                </a:lnTo>
                <a:lnTo>
                  <a:pt x="2940558" y="0"/>
                </a:lnTo>
                <a:close/>
              </a:path>
              <a:path w="2969895" h="800735">
                <a:moveTo>
                  <a:pt x="683514" y="771258"/>
                </a:moveTo>
                <a:lnTo>
                  <a:pt x="669035" y="771258"/>
                </a:lnTo>
                <a:lnTo>
                  <a:pt x="654557" y="785736"/>
                </a:lnTo>
                <a:lnTo>
                  <a:pt x="683514" y="785736"/>
                </a:lnTo>
                <a:lnTo>
                  <a:pt x="683514" y="771258"/>
                </a:lnTo>
                <a:close/>
              </a:path>
              <a:path w="2969895" h="800735">
                <a:moveTo>
                  <a:pt x="2911602" y="156209"/>
                </a:moveTo>
                <a:lnTo>
                  <a:pt x="2882646" y="156209"/>
                </a:lnTo>
                <a:lnTo>
                  <a:pt x="2926080" y="243077"/>
                </a:lnTo>
                <a:lnTo>
                  <a:pt x="2962275" y="170687"/>
                </a:lnTo>
                <a:lnTo>
                  <a:pt x="2911602" y="170687"/>
                </a:lnTo>
                <a:lnTo>
                  <a:pt x="2911602" y="156209"/>
                </a:lnTo>
                <a:close/>
              </a:path>
              <a:path w="2969895" h="800735">
                <a:moveTo>
                  <a:pt x="2911602" y="14477"/>
                </a:moveTo>
                <a:lnTo>
                  <a:pt x="2911602" y="170687"/>
                </a:lnTo>
                <a:lnTo>
                  <a:pt x="2940558" y="170687"/>
                </a:lnTo>
                <a:lnTo>
                  <a:pt x="2940558" y="28955"/>
                </a:lnTo>
                <a:lnTo>
                  <a:pt x="2926080" y="28955"/>
                </a:lnTo>
                <a:lnTo>
                  <a:pt x="2911602" y="14477"/>
                </a:lnTo>
                <a:close/>
              </a:path>
              <a:path w="2969895" h="800735">
                <a:moveTo>
                  <a:pt x="2969514" y="156209"/>
                </a:moveTo>
                <a:lnTo>
                  <a:pt x="2940558" y="156209"/>
                </a:lnTo>
                <a:lnTo>
                  <a:pt x="2940558" y="170687"/>
                </a:lnTo>
                <a:lnTo>
                  <a:pt x="2962275" y="170687"/>
                </a:lnTo>
                <a:lnTo>
                  <a:pt x="2969514" y="156209"/>
                </a:lnTo>
                <a:close/>
              </a:path>
              <a:path w="2969895" h="800735">
                <a:moveTo>
                  <a:pt x="683514" y="14477"/>
                </a:moveTo>
                <a:lnTo>
                  <a:pt x="669035" y="28955"/>
                </a:lnTo>
                <a:lnTo>
                  <a:pt x="683514" y="28955"/>
                </a:lnTo>
                <a:lnTo>
                  <a:pt x="683514" y="14477"/>
                </a:lnTo>
                <a:close/>
              </a:path>
              <a:path w="2969895" h="800735">
                <a:moveTo>
                  <a:pt x="2911602" y="14477"/>
                </a:moveTo>
                <a:lnTo>
                  <a:pt x="683514" y="14477"/>
                </a:lnTo>
                <a:lnTo>
                  <a:pt x="683514" y="28955"/>
                </a:lnTo>
                <a:lnTo>
                  <a:pt x="2911602" y="28955"/>
                </a:lnTo>
                <a:lnTo>
                  <a:pt x="2911602" y="14477"/>
                </a:lnTo>
                <a:close/>
              </a:path>
              <a:path w="2969895" h="800735">
                <a:moveTo>
                  <a:pt x="2940558" y="14477"/>
                </a:moveTo>
                <a:lnTo>
                  <a:pt x="2911602" y="14477"/>
                </a:lnTo>
                <a:lnTo>
                  <a:pt x="2926080" y="28955"/>
                </a:lnTo>
                <a:lnTo>
                  <a:pt x="2940558" y="28955"/>
                </a:lnTo>
                <a:lnTo>
                  <a:pt x="2940558" y="14477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1355" y="4607052"/>
            <a:ext cx="1659889" cy="1083310"/>
          </a:xfrm>
          <a:custGeom>
            <a:avLst/>
            <a:gdLst/>
            <a:ahLst/>
            <a:cxnLst/>
            <a:rect l="l" t="t" r="r" b="b"/>
            <a:pathLst>
              <a:path w="1659889" h="1083310">
                <a:moveTo>
                  <a:pt x="1601470" y="996315"/>
                </a:moveTo>
                <a:lnTo>
                  <a:pt x="1572514" y="996315"/>
                </a:lnTo>
                <a:lnTo>
                  <a:pt x="1615948" y="1083183"/>
                </a:lnTo>
                <a:lnTo>
                  <a:pt x="1652143" y="1010793"/>
                </a:lnTo>
                <a:lnTo>
                  <a:pt x="1601470" y="1010793"/>
                </a:lnTo>
                <a:lnTo>
                  <a:pt x="1601470" y="996315"/>
                </a:lnTo>
                <a:close/>
              </a:path>
              <a:path w="1659889" h="1083310">
                <a:moveTo>
                  <a:pt x="1601470" y="749935"/>
                </a:moveTo>
                <a:lnTo>
                  <a:pt x="1601470" y="1010793"/>
                </a:lnTo>
                <a:lnTo>
                  <a:pt x="1630426" y="1010793"/>
                </a:lnTo>
                <a:lnTo>
                  <a:pt x="1630426" y="764413"/>
                </a:lnTo>
                <a:lnTo>
                  <a:pt x="1615948" y="764413"/>
                </a:lnTo>
                <a:lnTo>
                  <a:pt x="1601470" y="749935"/>
                </a:lnTo>
                <a:close/>
              </a:path>
              <a:path w="1659889" h="1083310">
                <a:moveTo>
                  <a:pt x="1659382" y="996315"/>
                </a:moveTo>
                <a:lnTo>
                  <a:pt x="1630426" y="996315"/>
                </a:lnTo>
                <a:lnTo>
                  <a:pt x="1630426" y="1010793"/>
                </a:lnTo>
                <a:lnTo>
                  <a:pt x="1652143" y="1010793"/>
                </a:lnTo>
                <a:lnTo>
                  <a:pt x="1659382" y="996315"/>
                </a:lnTo>
                <a:close/>
              </a:path>
              <a:path w="1659889" h="1083310">
                <a:moveTo>
                  <a:pt x="243078" y="0"/>
                </a:moveTo>
                <a:lnTo>
                  <a:pt x="0" y="0"/>
                </a:lnTo>
                <a:lnTo>
                  <a:pt x="0" y="764413"/>
                </a:lnTo>
                <a:lnTo>
                  <a:pt x="1601470" y="764413"/>
                </a:lnTo>
                <a:lnTo>
                  <a:pt x="1601470" y="749935"/>
                </a:lnTo>
                <a:lnTo>
                  <a:pt x="28955" y="749935"/>
                </a:lnTo>
                <a:lnTo>
                  <a:pt x="14478" y="735457"/>
                </a:lnTo>
                <a:lnTo>
                  <a:pt x="28955" y="735457"/>
                </a:lnTo>
                <a:lnTo>
                  <a:pt x="28955" y="28956"/>
                </a:lnTo>
                <a:lnTo>
                  <a:pt x="14478" y="28956"/>
                </a:lnTo>
                <a:lnTo>
                  <a:pt x="28955" y="14478"/>
                </a:lnTo>
                <a:lnTo>
                  <a:pt x="243078" y="14478"/>
                </a:lnTo>
                <a:lnTo>
                  <a:pt x="243078" y="0"/>
                </a:lnTo>
                <a:close/>
              </a:path>
              <a:path w="1659889" h="1083310">
                <a:moveTo>
                  <a:pt x="1630426" y="735457"/>
                </a:moveTo>
                <a:lnTo>
                  <a:pt x="28955" y="735457"/>
                </a:lnTo>
                <a:lnTo>
                  <a:pt x="28955" y="749935"/>
                </a:lnTo>
                <a:lnTo>
                  <a:pt x="1601470" y="749935"/>
                </a:lnTo>
                <a:lnTo>
                  <a:pt x="1615948" y="764413"/>
                </a:lnTo>
                <a:lnTo>
                  <a:pt x="1630426" y="764413"/>
                </a:lnTo>
                <a:lnTo>
                  <a:pt x="1630426" y="735457"/>
                </a:lnTo>
                <a:close/>
              </a:path>
              <a:path w="1659889" h="1083310">
                <a:moveTo>
                  <a:pt x="28955" y="735457"/>
                </a:moveTo>
                <a:lnTo>
                  <a:pt x="14478" y="735457"/>
                </a:lnTo>
                <a:lnTo>
                  <a:pt x="28955" y="749935"/>
                </a:lnTo>
                <a:lnTo>
                  <a:pt x="28955" y="735457"/>
                </a:lnTo>
                <a:close/>
              </a:path>
              <a:path w="1659889" h="1083310">
                <a:moveTo>
                  <a:pt x="28955" y="14478"/>
                </a:moveTo>
                <a:lnTo>
                  <a:pt x="14478" y="28956"/>
                </a:lnTo>
                <a:lnTo>
                  <a:pt x="28955" y="28956"/>
                </a:lnTo>
                <a:lnTo>
                  <a:pt x="28955" y="14478"/>
                </a:lnTo>
                <a:close/>
              </a:path>
              <a:path w="1659889" h="1083310">
                <a:moveTo>
                  <a:pt x="243078" y="14478"/>
                </a:moveTo>
                <a:lnTo>
                  <a:pt x="28955" y="14478"/>
                </a:lnTo>
                <a:lnTo>
                  <a:pt x="28955" y="28956"/>
                </a:lnTo>
                <a:lnTo>
                  <a:pt x="243078" y="28956"/>
                </a:lnTo>
                <a:lnTo>
                  <a:pt x="243078" y="1447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1754123" y="2081022"/>
            <a:ext cx="8421370" cy="666750"/>
          </a:xfrm>
          <a:custGeom>
            <a:avLst/>
            <a:gdLst/>
            <a:ahLst/>
            <a:cxnLst/>
            <a:rect l="l" t="t" r="r" b="b"/>
            <a:pathLst>
              <a:path w="8421370" h="666750">
                <a:moveTo>
                  <a:pt x="28956" y="579881"/>
                </a:moveTo>
                <a:lnTo>
                  <a:pt x="0" y="579881"/>
                </a:lnTo>
                <a:lnTo>
                  <a:pt x="43433" y="666750"/>
                </a:lnTo>
                <a:lnTo>
                  <a:pt x="79628" y="594360"/>
                </a:lnTo>
                <a:lnTo>
                  <a:pt x="28956" y="594360"/>
                </a:lnTo>
                <a:lnTo>
                  <a:pt x="28956" y="579881"/>
                </a:lnTo>
                <a:close/>
              </a:path>
              <a:path w="8421370" h="666750">
                <a:moveTo>
                  <a:pt x="8391906" y="179577"/>
                </a:moveTo>
                <a:lnTo>
                  <a:pt x="28956" y="179577"/>
                </a:lnTo>
                <a:lnTo>
                  <a:pt x="28956" y="594360"/>
                </a:lnTo>
                <a:lnTo>
                  <a:pt x="57912" y="594360"/>
                </a:lnTo>
                <a:lnTo>
                  <a:pt x="57912" y="208533"/>
                </a:lnTo>
                <a:lnTo>
                  <a:pt x="43433" y="208533"/>
                </a:lnTo>
                <a:lnTo>
                  <a:pt x="57912" y="194055"/>
                </a:lnTo>
                <a:lnTo>
                  <a:pt x="8391906" y="194055"/>
                </a:lnTo>
                <a:lnTo>
                  <a:pt x="8391906" y="179577"/>
                </a:lnTo>
                <a:close/>
              </a:path>
              <a:path w="8421370" h="666750">
                <a:moveTo>
                  <a:pt x="86868" y="579881"/>
                </a:moveTo>
                <a:lnTo>
                  <a:pt x="57912" y="579881"/>
                </a:lnTo>
                <a:lnTo>
                  <a:pt x="57912" y="594360"/>
                </a:lnTo>
                <a:lnTo>
                  <a:pt x="79628" y="594360"/>
                </a:lnTo>
                <a:lnTo>
                  <a:pt x="86868" y="579881"/>
                </a:lnTo>
                <a:close/>
              </a:path>
              <a:path w="8421370" h="666750">
                <a:moveTo>
                  <a:pt x="57912" y="194055"/>
                </a:moveTo>
                <a:lnTo>
                  <a:pt x="43433" y="208533"/>
                </a:lnTo>
                <a:lnTo>
                  <a:pt x="57912" y="208533"/>
                </a:lnTo>
                <a:lnTo>
                  <a:pt x="57912" y="194055"/>
                </a:lnTo>
                <a:close/>
              </a:path>
              <a:path w="8421370" h="666750">
                <a:moveTo>
                  <a:pt x="8420862" y="179577"/>
                </a:moveTo>
                <a:lnTo>
                  <a:pt x="8406384" y="179577"/>
                </a:lnTo>
                <a:lnTo>
                  <a:pt x="8391906" y="194055"/>
                </a:lnTo>
                <a:lnTo>
                  <a:pt x="57912" y="194055"/>
                </a:lnTo>
                <a:lnTo>
                  <a:pt x="57912" y="208533"/>
                </a:lnTo>
                <a:lnTo>
                  <a:pt x="8420862" y="208533"/>
                </a:lnTo>
                <a:lnTo>
                  <a:pt x="8420862" y="179577"/>
                </a:lnTo>
                <a:close/>
              </a:path>
              <a:path w="8421370" h="666750">
                <a:moveTo>
                  <a:pt x="8420862" y="0"/>
                </a:moveTo>
                <a:lnTo>
                  <a:pt x="8391906" y="0"/>
                </a:lnTo>
                <a:lnTo>
                  <a:pt x="8391906" y="194055"/>
                </a:lnTo>
                <a:lnTo>
                  <a:pt x="8406384" y="179577"/>
                </a:lnTo>
                <a:lnTo>
                  <a:pt x="8420862" y="179577"/>
                </a:lnTo>
                <a:lnTo>
                  <a:pt x="8420862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426460">
              <a:lnSpc>
                <a:spcPct val="100000"/>
              </a:lnSpc>
              <a:spcBef>
                <a:spcPts val="95"/>
              </a:spcBef>
            </a:pPr>
            <a:r>
              <a:rPr spc="-10" dirty="0"/>
              <a:t>Homework</a:t>
            </a:r>
          </a:p>
        </p:txBody>
      </p:sp>
      <p:sp>
        <p:nvSpPr>
          <p:cNvPr id="3" name="object 3"/>
          <p:cNvSpPr/>
          <p:nvPr/>
        </p:nvSpPr>
        <p:spPr>
          <a:xfrm>
            <a:off x="0" y="484631"/>
            <a:ext cx="1478280" cy="76200"/>
          </a:xfrm>
          <a:custGeom>
            <a:avLst/>
            <a:gdLst/>
            <a:ahLst/>
            <a:cxnLst/>
            <a:rect l="l" t="t" r="r" b="b"/>
            <a:pathLst>
              <a:path w="1478280" h="76200">
                <a:moveTo>
                  <a:pt x="1440053" y="0"/>
                </a:moveTo>
                <a:lnTo>
                  <a:pt x="1425205" y="2988"/>
                </a:lnTo>
                <a:lnTo>
                  <a:pt x="1413097" y="11144"/>
                </a:lnTo>
                <a:lnTo>
                  <a:pt x="1404941" y="23252"/>
                </a:lnTo>
                <a:lnTo>
                  <a:pt x="1401953" y="38100"/>
                </a:lnTo>
                <a:lnTo>
                  <a:pt x="1404941" y="52947"/>
                </a:lnTo>
                <a:lnTo>
                  <a:pt x="1413097" y="65055"/>
                </a:lnTo>
                <a:lnTo>
                  <a:pt x="1425205" y="73211"/>
                </a:lnTo>
                <a:lnTo>
                  <a:pt x="1440053" y="76200"/>
                </a:lnTo>
                <a:lnTo>
                  <a:pt x="1454846" y="73211"/>
                </a:lnTo>
                <a:lnTo>
                  <a:pt x="1466961" y="65055"/>
                </a:lnTo>
                <a:lnTo>
                  <a:pt x="1475146" y="52947"/>
                </a:lnTo>
                <a:lnTo>
                  <a:pt x="1476867" y="44450"/>
                </a:lnTo>
                <a:lnTo>
                  <a:pt x="1440053" y="44450"/>
                </a:lnTo>
                <a:lnTo>
                  <a:pt x="1440053" y="31750"/>
                </a:lnTo>
                <a:lnTo>
                  <a:pt x="1476867" y="31750"/>
                </a:lnTo>
                <a:lnTo>
                  <a:pt x="1475146" y="23252"/>
                </a:lnTo>
                <a:lnTo>
                  <a:pt x="1466961" y="11144"/>
                </a:lnTo>
                <a:lnTo>
                  <a:pt x="1454846" y="2988"/>
                </a:lnTo>
                <a:lnTo>
                  <a:pt x="1440053" y="0"/>
                </a:lnTo>
                <a:close/>
              </a:path>
              <a:path w="1478280" h="76200">
                <a:moveTo>
                  <a:pt x="1403231" y="31750"/>
                </a:moveTo>
                <a:lnTo>
                  <a:pt x="0" y="31750"/>
                </a:lnTo>
                <a:lnTo>
                  <a:pt x="0" y="44450"/>
                </a:lnTo>
                <a:lnTo>
                  <a:pt x="1403231" y="44450"/>
                </a:lnTo>
                <a:lnTo>
                  <a:pt x="1401953" y="38100"/>
                </a:lnTo>
                <a:lnTo>
                  <a:pt x="1403231" y="31750"/>
                </a:lnTo>
                <a:close/>
              </a:path>
              <a:path w="1478280" h="76200">
                <a:moveTo>
                  <a:pt x="1476867" y="31750"/>
                </a:moveTo>
                <a:lnTo>
                  <a:pt x="1440053" y="31750"/>
                </a:lnTo>
                <a:lnTo>
                  <a:pt x="1440053" y="44450"/>
                </a:lnTo>
                <a:lnTo>
                  <a:pt x="1476867" y="44450"/>
                </a:lnTo>
                <a:lnTo>
                  <a:pt x="1478153" y="38100"/>
                </a:lnTo>
                <a:lnTo>
                  <a:pt x="1476867" y="3175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" name="object 4"/>
          <p:cNvGrpSpPr/>
          <p:nvPr/>
        </p:nvGrpSpPr>
        <p:grpSpPr>
          <a:xfrm>
            <a:off x="1470660" y="5669279"/>
            <a:ext cx="9250680" cy="939165"/>
            <a:chOff x="1470660" y="5669279"/>
            <a:chExt cx="9250680" cy="939165"/>
          </a:xfrm>
        </p:grpSpPr>
        <p:sp>
          <p:nvSpPr>
            <p:cNvPr id="5" name="object 5"/>
            <p:cNvSpPr/>
            <p:nvPr/>
          </p:nvSpPr>
          <p:spPr>
            <a:xfrm>
              <a:off x="1499616" y="5698235"/>
              <a:ext cx="9192895" cy="881380"/>
            </a:xfrm>
            <a:custGeom>
              <a:avLst/>
              <a:gdLst/>
              <a:ahLst/>
              <a:cxnLst/>
              <a:rect l="l" t="t" r="r" b="b"/>
              <a:pathLst>
                <a:path w="9192895" h="881379">
                  <a:moveTo>
                    <a:pt x="9045956" y="0"/>
                  </a:moveTo>
                  <a:lnTo>
                    <a:pt x="146811" y="0"/>
                  </a:lnTo>
                  <a:lnTo>
                    <a:pt x="100429" y="7483"/>
                  </a:lnTo>
                  <a:lnTo>
                    <a:pt x="60130" y="28324"/>
                  </a:lnTo>
                  <a:lnTo>
                    <a:pt x="28342" y="60103"/>
                  </a:lnTo>
                  <a:lnTo>
                    <a:pt x="7489" y="100405"/>
                  </a:lnTo>
                  <a:lnTo>
                    <a:pt x="0" y="146811"/>
                  </a:lnTo>
                  <a:lnTo>
                    <a:pt x="0" y="734059"/>
                  </a:lnTo>
                  <a:lnTo>
                    <a:pt x="7489" y="780461"/>
                  </a:lnTo>
                  <a:lnTo>
                    <a:pt x="28342" y="820763"/>
                  </a:lnTo>
                  <a:lnTo>
                    <a:pt x="60130" y="852544"/>
                  </a:lnTo>
                  <a:lnTo>
                    <a:pt x="100429" y="873386"/>
                  </a:lnTo>
                  <a:lnTo>
                    <a:pt x="146811" y="880871"/>
                  </a:lnTo>
                  <a:lnTo>
                    <a:pt x="9045956" y="880871"/>
                  </a:lnTo>
                  <a:lnTo>
                    <a:pt x="9092338" y="873386"/>
                  </a:lnTo>
                  <a:lnTo>
                    <a:pt x="9132637" y="852544"/>
                  </a:lnTo>
                  <a:lnTo>
                    <a:pt x="9164425" y="820763"/>
                  </a:lnTo>
                  <a:lnTo>
                    <a:pt x="9185278" y="780461"/>
                  </a:lnTo>
                  <a:lnTo>
                    <a:pt x="9192767" y="734059"/>
                  </a:lnTo>
                  <a:lnTo>
                    <a:pt x="9192767" y="146811"/>
                  </a:lnTo>
                  <a:lnTo>
                    <a:pt x="9185278" y="100405"/>
                  </a:lnTo>
                  <a:lnTo>
                    <a:pt x="9164425" y="60103"/>
                  </a:lnTo>
                  <a:lnTo>
                    <a:pt x="9132637" y="28324"/>
                  </a:lnTo>
                  <a:lnTo>
                    <a:pt x="9092338" y="7483"/>
                  </a:lnTo>
                  <a:lnTo>
                    <a:pt x="9045956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499616" y="5698235"/>
              <a:ext cx="9192895" cy="881380"/>
            </a:xfrm>
            <a:custGeom>
              <a:avLst/>
              <a:gdLst/>
              <a:ahLst/>
              <a:cxnLst/>
              <a:rect l="l" t="t" r="r" b="b"/>
              <a:pathLst>
                <a:path w="9192895" h="881379">
                  <a:moveTo>
                    <a:pt x="0" y="146811"/>
                  </a:moveTo>
                  <a:lnTo>
                    <a:pt x="7489" y="100405"/>
                  </a:lnTo>
                  <a:lnTo>
                    <a:pt x="28342" y="60103"/>
                  </a:lnTo>
                  <a:lnTo>
                    <a:pt x="60130" y="28324"/>
                  </a:lnTo>
                  <a:lnTo>
                    <a:pt x="100429" y="7483"/>
                  </a:lnTo>
                  <a:lnTo>
                    <a:pt x="146811" y="0"/>
                  </a:lnTo>
                  <a:lnTo>
                    <a:pt x="9045956" y="0"/>
                  </a:lnTo>
                  <a:lnTo>
                    <a:pt x="9092338" y="7483"/>
                  </a:lnTo>
                  <a:lnTo>
                    <a:pt x="9132637" y="28324"/>
                  </a:lnTo>
                  <a:lnTo>
                    <a:pt x="9164425" y="60103"/>
                  </a:lnTo>
                  <a:lnTo>
                    <a:pt x="9185278" y="100405"/>
                  </a:lnTo>
                  <a:lnTo>
                    <a:pt x="9192767" y="146811"/>
                  </a:lnTo>
                  <a:lnTo>
                    <a:pt x="9192767" y="734059"/>
                  </a:lnTo>
                  <a:lnTo>
                    <a:pt x="9185278" y="780461"/>
                  </a:lnTo>
                  <a:lnTo>
                    <a:pt x="9164425" y="820763"/>
                  </a:lnTo>
                  <a:lnTo>
                    <a:pt x="9132637" y="852544"/>
                  </a:lnTo>
                  <a:lnTo>
                    <a:pt x="9092338" y="873386"/>
                  </a:lnTo>
                  <a:lnTo>
                    <a:pt x="9045956" y="880871"/>
                  </a:lnTo>
                  <a:lnTo>
                    <a:pt x="146811" y="880871"/>
                  </a:lnTo>
                  <a:lnTo>
                    <a:pt x="100429" y="873386"/>
                  </a:lnTo>
                  <a:lnTo>
                    <a:pt x="60130" y="852544"/>
                  </a:lnTo>
                  <a:lnTo>
                    <a:pt x="28342" y="820763"/>
                  </a:lnTo>
                  <a:lnTo>
                    <a:pt x="7489" y="780461"/>
                  </a:lnTo>
                  <a:lnTo>
                    <a:pt x="0" y="734059"/>
                  </a:lnTo>
                  <a:lnTo>
                    <a:pt x="0" y="146811"/>
                  </a:lnTo>
                  <a:close/>
                </a:path>
              </a:pathLst>
            </a:custGeom>
            <a:ln w="5791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>
            <a:off x="2397632" y="745363"/>
            <a:ext cx="7566659" cy="5610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40080" marR="220979" indent="-457200">
              <a:lnSpc>
                <a:spcPct val="100000"/>
              </a:lnSpc>
              <a:spcBef>
                <a:spcPts val="105"/>
              </a:spcBef>
              <a:buFont typeface="Arial"/>
              <a:buChar char="•"/>
              <a:tabLst>
                <a:tab pos="640080" algn="l"/>
              </a:tabLst>
            </a:pP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We</a:t>
            </a:r>
            <a:r>
              <a:rPr sz="20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are</a:t>
            </a:r>
            <a:r>
              <a:rPr sz="2000" b="0" spc="-3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going</a:t>
            </a:r>
            <a:r>
              <a:rPr sz="20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to</a:t>
            </a:r>
            <a:r>
              <a:rPr sz="20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look</a:t>
            </a:r>
            <a:r>
              <a:rPr sz="20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at</a:t>
            </a:r>
            <a:r>
              <a:rPr sz="20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descriptive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analytics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–</a:t>
            </a:r>
            <a:r>
              <a:rPr sz="20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the</a:t>
            </a:r>
            <a:r>
              <a:rPr sz="20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core</a:t>
            </a:r>
            <a:r>
              <a:rPr sz="20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analytic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phase</a:t>
            </a:r>
            <a:r>
              <a:rPr sz="2000" b="0" spc="-3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of</a:t>
            </a:r>
            <a:r>
              <a:rPr sz="2000" b="0" spc="-3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this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module.</a:t>
            </a:r>
            <a:endParaRPr sz="20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  <a:buFont typeface="Arial"/>
              <a:buChar char="•"/>
            </a:pPr>
            <a:endParaRPr sz="1800">
              <a:latin typeface="Segoe UI Light"/>
              <a:cs typeface="Segoe UI Light"/>
            </a:endParaRPr>
          </a:p>
          <a:p>
            <a:pPr marL="640080" marR="5080" indent="-457200">
              <a:lnSpc>
                <a:spcPct val="100000"/>
              </a:lnSpc>
              <a:spcBef>
                <a:spcPts val="5"/>
              </a:spcBef>
              <a:buFont typeface="Arial"/>
              <a:buChar char="•"/>
              <a:tabLst>
                <a:tab pos="640080" algn="l"/>
              </a:tabLst>
            </a:pP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For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homework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please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watch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 </a:t>
            </a:r>
            <a:r>
              <a:rPr sz="2000" b="0" spc="-50" dirty="0">
                <a:solidFill>
                  <a:srgbClr val="FFFFFF"/>
                </a:solidFill>
                <a:latin typeface="Segoe UI Light"/>
                <a:cs typeface="Segoe UI Light"/>
              </a:rPr>
              <a:t>Tableau-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specific video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snippets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listed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below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in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addition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planning_1</a:t>
            </a:r>
            <a:r>
              <a:rPr sz="20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planning_2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.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Note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that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following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videos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directly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address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Tableau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components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of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your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first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practical.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just</a:t>
            </a:r>
            <a:r>
              <a:rPr sz="2000" b="0" spc="-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have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repeat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is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done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here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and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answer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some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questions.</a:t>
            </a:r>
            <a:endParaRPr sz="2000">
              <a:latin typeface="Segoe UI Light"/>
              <a:cs typeface="Segoe UI Light"/>
            </a:endParaRPr>
          </a:p>
          <a:p>
            <a:pPr marL="926465" lvl="1" indent="-286385">
              <a:lnSpc>
                <a:spcPct val="100000"/>
              </a:lnSpc>
              <a:spcBef>
                <a:spcPts val="20"/>
              </a:spcBef>
              <a:buFont typeface="Arial"/>
              <a:buChar char="•"/>
              <a:tabLst>
                <a:tab pos="926465" algn="l"/>
              </a:tabLst>
            </a:pPr>
            <a:r>
              <a:rPr sz="16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problem_centric_1</a:t>
            </a:r>
            <a:r>
              <a:rPr sz="1600" b="0" spc="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(related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slide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set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“DA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Problem-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centric</a:t>
            </a:r>
            <a:r>
              <a:rPr sz="1600" b="0" spc="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(1)</a:t>
            </a:r>
            <a:r>
              <a:rPr sz="16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2”)</a:t>
            </a:r>
            <a:endParaRPr sz="1600">
              <a:latin typeface="Segoe UI Light"/>
              <a:cs typeface="Segoe UI Light"/>
            </a:endParaRPr>
          </a:p>
          <a:p>
            <a:pPr marL="926465" lvl="1" indent="-286385">
              <a:lnSpc>
                <a:spcPct val="100000"/>
              </a:lnSpc>
              <a:buFont typeface="Arial"/>
              <a:buChar char="•"/>
              <a:tabLst>
                <a:tab pos="926465" algn="l"/>
              </a:tabLst>
            </a:pPr>
            <a:r>
              <a:rPr sz="16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problem_centric_2</a:t>
            </a:r>
            <a:r>
              <a:rPr sz="1600" b="0" spc="4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16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(related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slide set</a:t>
            </a:r>
            <a:r>
              <a:rPr sz="16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“DA</a:t>
            </a:r>
            <a:r>
              <a:rPr sz="16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-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Problem-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centric</a:t>
            </a:r>
            <a:r>
              <a:rPr sz="1600" b="0" spc="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(2)</a:t>
            </a:r>
            <a:r>
              <a:rPr sz="16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dirty="0">
                <a:solidFill>
                  <a:srgbClr val="FFFFFF"/>
                </a:solidFill>
                <a:latin typeface="Segoe UI Light"/>
                <a:cs typeface="Segoe UI Light"/>
              </a:rPr>
              <a:t>–</a:t>
            </a:r>
            <a:r>
              <a:rPr sz="16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16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2”)</a:t>
            </a:r>
            <a:endParaRPr sz="1600">
              <a:latin typeface="Segoe UI Light"/>
              <a:cs typeface="Segoe UI Light"/>
            </a:endParaRPr>
          </a:p>
          <a:p>
            <a:pPr lvl="1">
              <a:lnSpc>
                <a:spcPct val="100000"/>
              </a:lnSpc>
              <a:spcBef>
                <a:spcPts val="55"/>
              </a:spcBef>
              <a:buClr>
                <a:srgbClr val="FFFF00"/>
              </a:buClr>
              <a:buFont typeface="Arial"/>
              <a:buChar char="•"/>
            </a:pPr>
            <a:endParaRPr sz="1750">
              <a:latin typeface="Segoe UI Light"/>
              <a:cs typeface="Segoe UI Light"/>
            </a:endParaRPr>
          </a:p>
          <a:p>
            <a:pPr marL="640080" marR="200025" indent="-457200">
              <a:lnSpc>
                <a:spcPct val="100000"/>
              </a:lnSpc>
              <a:buFont typeface="Arial"/>
              <a:buChar char="•"/>
              <a:tabLst>
                <a:tab pos="640080" algn="l"/>
              </a:tabLst>
            </a:pP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NOTE:</a:t>
            </a:r>
            <a:r>
              <a:rPr sz="2000" b="0" spc="-2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wish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highlight</a:t>
            </a:r>
            <a:r>
              <a:rPr sz="20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following.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8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2000" b="0" spc="-3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are</a:t>
            </a:r>
            <a:r>
              <a:rPr sz="2000" b="0" spc="-3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not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expected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to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memorise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framework.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will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ask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you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elaborate/discuss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specific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aspects</a:t>
            </a:r>
            <a:r>
              <a:rPr sz="2000" b="0" spc="-4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thereof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by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explicitly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stating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what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I</a:t>
            </a:r>
            <a:r>
              <a:rPr sz="2000" b="0" spc="-4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want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20" dirty="0">
                <a:solidFill>
                  <a:srgbClr val="FFFFFF"/>
                </a:solidFill>
                <a:latin typeface="Segoe UI Light"/>
                <a:cs typeface="Segoe UI Light"/>
              </a:rPr>
              <a:t>your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discussion</a:t>
            </a:r>
            <a:r>
              <a:rPr sz="2000" b="0" spc="-1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0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focus</a:t>
            </a:r>
            <a:r>
              <a:rPr sz="2000" b="0" spc="-2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FF"/>
                </a:solidFill>
                <a:latin typeface="Segoe UI Light"/>
                <a:cs typeface="Segoe UI Light"/>
              </a:rPr>
              <a:t>on.</a:t>
            </a:r>
            <a:r>
              <a:rPr sz="2000" b="0" spc="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000" b="0" spc="-80" dirty="0">
                <a:solidFill>
                  <a:srgbClr val="FFFF00"/>
                </a:solidFill>
                <a:latin typeface="Segoe UI Light"/>
                <a:cs typeface="Segoe UI Light"/>
              </a:rPr>
              <a:t>You</a:t>
            </a:r>
            <a:r>
              <a:rPr sz="2000" b="0" spc="-2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need to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understand</a:t>
            </a:r>
            <a:r>
              <a:rPr sz="2000" b="0" spc="-1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dirty="0">
                <a:solidFill>
                  <a:srgbClr val="FFFF00"/>
                </a:solidFill>
                <a:latin typeface="Segoe UI Light"/>
                <a:cs typeface="Segoe UI Light"/>
              </a:rPr>
              <a:t>the</a:t>
            </a:r>
            <a:r>
              <a:rPr sz="2000" b="0" spc="-5" dirty="0">
                <a:solidFill>
                  <a:srgbClr val="FFFF00"/>
                </a:solidFill>
                <a:latin typeface="Segoe UI Light"/>
                <a:cs typeface="Segoe UI Light"/>
              </a:rPr>
              <a:t> </a:t>
            </a:r>
            <a:r>
              <a:rPr sz="2000" b="0" spc="-10" dirty="0">
                <a:solidFill>
                  <a:srgbClr val="FFFF00"/>
                </a:solidFill>
                <a:latin typeface="Segoe UI Light"/>
                <a:cs typeface="Segoe UI Light"/>
              </a:rPr>
              <a:t>phases!</a:t>
            </a:r>
            <a:endParaRPr sz="2000">
              <a:latin typeface="Segoe UI Light"/>
              <a:cs typeface="Segoe UI Light"/>
            </a:endParaRPr>
          </a:p>
          <a:p>
            <a:pPr>
              <a:lnSpc>
                <a:spcPct val="100000"/>
              </a:lnSpc>
            </a:pPr>
            <a:endParaRPr sz="2600">
              <a:latin typeface="Segoe UI Light"/>
              <a:cs typeface="Segoe UI Light"/>
            </a:endParaRPr>
          </a:p>
          <a:p>
            <a:pPr marL="12700">
              <a:lnSpc>
                <a:spcPct val="100000"/>
              </a:lnSpc>
              <a:spcBef>
                <a:spcPts val="2110"/>
              </a:spcBef>
            </a:pP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Remember</a:t>
            </a:r>
            <a:r>
              <a:rPr sz="2800" b="0" spc="-11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to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go</a:t>
            </a:r>
            <a:r>
              <a:rPr sz="2800" b="0" spc="-10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through</a:t>
            </a:r>
            <a:r>
              <a:rPr sz="2800" b="0" spc="-9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the</a:t>
            </a:r>
            <a:r>
              <a:rPr sz="2800" b="0" spc="-105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dirty="0">
                <a:solidFill>
                  <a:srgbClr val="FFFFFF"/>
                </a:solidFill>
                <a:latin typeface="Segoe UI Light"/>
                <a:cs typeface="Segoe UI Light"/>
              </a:rPr>
              <a:t>Datacamp</a:t>
            </a:r>
            <a:r>
              <a:rPr sz="2800" b="0" spc="-70" dirty="0">
                <a:solidFill>
                  <a:srgbClr val="FFFFFF"/>
                </a:solidFill>
                <a:latin typeface="Segoe UI Light"/>
                <a:cs typeface="Segoe UI Light"/>
              </a:rPr>
              <a:t> </a:t>
            </a:r>
            <a:r>
              <a:rPr sz="2800" b="0" spc="-10" dirty="0">
                <a:solidFill>
                  <a:srgbClr val="FFFFFF"/>
                </a:solidFill>
                <a:latin typeface="Segoe UI Light"/>
                <a:cs typeface="Segoe UI Light"/>
              </a:rPr>
              <a:t>chapters</a:t>
            </a:r>
            <a:endParaRPr sz="2800">
              <a:latin typeface="Segoe UI Light"/>
              <a:cs typeface="Segoe UI Light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12192000" cy="6858000"/>
            </a:xfrm>
            <a:prstGeom prst="rect">
              <a:avLst/>
            </a:prstGeom>
          </p:spPr>
        </p:pic>
        <p:sp>
          <p:nvSpPr>
            <p:cNvPr id="4" name="object 4"/>
            <p:cNvSpPr/>
            <p:nvPr/>
          </p:nvSpPr>
          <p:spPr>
            <a:xfrm>
              <a:off x="4792979" y="2125979"/>
              <a:ext cx="2606040" cy="2606040"/>
            </a:xfrm>
            <a:custGeom>
              <a:avLst/>
              <a:gdLst/>
              <a:ahLst/>
              <a:cxnLst/>
              <a:rect l="l" t="t" r="r" b="b"/>
              <a:pathLst>
                <a:path w="2606040" h="2606040">
                  <a:moveTo>
                    <a:pt x="0" y="1303020"/>
                  </a:moveTo>
                  <a:lnTo>
                    <a:pt x="1303020" y="0"/>
                  </a:lnTo>
                  <a:lnTo>
                    <a:pt x="2606040" y="1303020"/>
                  </a:lnTo>
                  <a:lnTo>
                    <a:pt x="1303020" y="2606040"/>
                  </a:lnTo>
                  <a:lnTo>
                    <a:pt x="0" y="1303020"/>
                  </a:lnTo>
                  <a:close/>
                </a:path>
              </a:pathLst>
            </a:custGeom>
            <a:ln w="12192">
              <a:solidFill>
                <a:srgbClr val="FFFF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5827903" y="2793873"/>
            <a:ext cx="537845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b="1" dirty="0">
                <a:solidFill>
                  <a:srgbClr val="FFFFFF"/>
                </a:solidFill>
                <a:latin typeface="Century Gothic"/>
                <a:cs typeface="Century Gothic"/>
              </a:rPr>
              <a:t>?</a:t>
            </a:r>
            <a:endParaRPr sz="7200">
              <a:latin typeface="Century Gothic"/>
              <a:cs typeface="Century Gothic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Words>2247</Words>
  <Application>Microsoft Office PowerPoint</Application>
  <PresentationFormat>Widescreen</PresentationFormat>
  <Paragraphs>151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Arial</vt:lpstr>
      <vt:lpstr>Calibri</vt:lpstr>
      <vt:lpstr>Century Gothic</vt:lpstr>
      <vt:lpstr>Segoe UI Light</vt:lpstr>
      <vt:lpstr>Office Theme</vt:lpstr>
      <vt:lpstr>PowerPoint Presentation</vt:lpstr>
      <vt:lpstr>Outcomes of this lecture</vt:lpstr>
      <vt:lpstr>Module framework</vt:lpstr>
      <vt:lpstr>The business context – phase 1</vt:lpstr>
      <vt:lpstr>The business context – phase 1</vt:lpstr>
      <vt:lpstr>The business context – still phase 1</vt:lpstr>
      <vt:lpstr>The data goals – phase 2</vt:lpstr>
      <vt:lpstr>PowerPoint Presentation</vt:lpstr>
      <vt:lpstr>Data collection – phase 4</vt:lpstr>
      <vt:lpstr>PowerPoint Presentation</vt:lpstr>
      <vt:lpstr>Data collection - verifying the quality of data</vt:lpstr>
      <vt:lpstr>Techniques to verify the quality of survey data – validity</vt:lpstr>
      <vt:lpstr>Techniques to verify the quality of survey data – reliability</vt:lpstr>
      <vt:lpstr>Data collection – my red flag list</vt:lpstr>
      <vt:lpstr>Our adapted CRISP-DM framework</vt:lpstr>
      <vt:lpstr>Homework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Karl van der Schyff</dc:creator>
  <cp:lastModifiedBy>Gugu Baduza</cp:lastModifiedBy>
  <cp:revision>1</cp:revision>
  <dcterms:created xsi:type="dcterms:W3CDTF">2023-07-12T11:38:12Z</dcterms:created>
  <dcterms:modified xsi:type="dcterms:W3CDTF">2023-07-14T07:02:59Z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2021-07-28T00:00:00Z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2023-07-12T00:00:00Z</vt:filetime>
  </property>
  <property fmtid="{D5CDD505-2E9C-101B-9397-08002B2CF9AE}" pid="5" name="Producer">
    <vt:lpwstr>Microsoft® PowerPoint® 2019</vt:lpwstr>
  </property>
</Properties>
</file>